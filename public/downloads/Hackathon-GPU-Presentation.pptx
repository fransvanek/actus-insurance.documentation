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63" r:id="rId2"/>
    <p:sldMasterId id="2147483676" r:id="rId3"/>
    <p:sldMasterId id="2147483683" r:id="rId4"/>
    <p:sldMasterId id="2147483689" r:id="rId5"/>
  </p:sldMasterIdLst>
  <p:notesMasterIdLst>
    <p:notesMasterId r:id="rId16"/>
  </p:notesMasterIdLst>
  <p:sldIdLst>
    <p:sldId id="256" r:id="rId6"/>
    <p:sldId id="276" r:id="rId7"/>
    <p:sldId id="271" r:id="rId8"/>
    <p:sldId id="284" r:id="rId9"/>
    <p:sldId id="278" r:id="rId10"/>
    <p:sldId id="287" r:id="rId11"/>
    <p:sldId id="288" r:id="rId12"/>
    <p:sldId id="289" r:id="rId13"/>
    <p:sldId id="290" r:id="rId14"/>
    <p:sldId id="28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22F8C-63AA-49ED-B59A-7677D22DBBE0}" v="16" dt="2026-03-09T19:55:37.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0413" autoAdjust="0"/>
    <p:restoredTop sz="94660"/>
  </p:normalViewPr>
  <p:slideViewPr>
    <p:cSldViewPr snapToGrid="0">
      <p:cViewPr varScale="1">
        <p:scale>
          <a:sx n="128" d="100"/>
          <a:sy n="128" d="100"/>
        </p:scale>
        <p:origin x="90" y="1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s van Ek" userId="b59dc2308d1d8d79" providerId="LiveId" clId="{C5BB8E73-63A9-494B-80B6-48A99FEF0CAE}"/>
    <pc:docChg chg="undo custSel modSld sldOrd">
      <pc:chgData name="Frans van Ek" userId="b59dc2308d1d8d79" providerId="LiveId" clId="{C5BB8E73-63A9-494B-80B6-48A99FEF0CAE}" dt="2026-03-09T19:59:43.205" v="118" actId="729"/>
      <pc:docMkLst>
        <pc:docMk/>
      </pc:docMkLst>
      <pc:sldChg chg="modSp mod">
        <pc:chgData name="Frans van Ek" userId="b59dc2308d1d8d79" providerId="LiveId" clId="{C5BB8E73-63A9-494B-80B6-48A99FEF0CAE}" dt="2026-03-09T19:56:39.048" v="85" actId="20577"/>
        <pc:sldMkLst>
          <pc:docMk/>
          <pc:sldMk cId="2133007951" sldId="256"/>
        </pc:sldMkLst>
        <pc:spChg chg="mod">
          <ac:chgData name="Frans van Ek" userId="b59dc2308d1d8d79" providerId="LiveId" clId="{C5BB8E73-63A9-494B-80B6-48A99FEF0CAE}" dt="2026-03-09T19:56:39.048" v="85" actId="20577"/>
          <ac:spMkLst>
            <pc:docMk/>
            <pc:sldMk cId="2133007951" sldId="256"/>
            <ac:spMk id="2" creationId="{7B0DBA6A-C036-4625-8649-4B818A74FDA3}"/>
          </ac:spMkLst>
        </pc:spChg>
      </pc:sldChg>
      <pc:sldChg chg="mod modShow">
        <pc:chgData name="Frans van Ek" userId="b59dc2308d1d8d79" providerId="LiveId" clId="{C5BB8E73-63A9-494B-80B6-48A99FEF0CAE}" dt="2026-03-09T19:59:43.205" v="118" actId="729"/>
        <pc:sldMkLst>
          <pc:docMk/>
          <pc:sldMk cId="604717835" sldId="268"/>
        </pc:sldMkLst>
      </pc:sldChg>
      <pc:sldChg chg="ord">
        <pc:chgData name="Frans van Ek" userId="b59dc2308d1d8d79" providerId="LiveId" clId="{C5BB8E73-63A9-494B-80B6-48A99FEF0CAE}" dt="2026-03-09T19:59:04.409" v="117"/>
        <pc:sldMkLst>
          <pc:docMk/>
          <pc:sldMk cId="2257245227" sldId="271"/>
        </pc:sldMkLst>
      </pc:sldChg>
      <pc:sldChg chg="mod modShow">
        <pc:chgData name="Frans van Ek" userId="b59dc2308d1d8d79" providerId="LiveId" clId="{C5BB8E73-63A9-494B-80B6-48A99FEF0CAE}" dt="2026-03-09T19:59:43.205" v="118" actId="729"/>
        <pc:sldMkLst>
          <pc:docMk/>
          <pc:sldMk cId="3273106449" sldId="272"/>
        </pc:sldMkLst>
      </pc:sldChg>
      <pc:sldChg chg="mod modShow">
        <pc:chgData name="Frans van Ek" userId="b59dc2308d1d8d79" providerId="LiveId" clId="{C5BB8E73-63A9-494B-80B6-48A99FEF0CAE}" dt="2026-03-09T19:59:43.205" v="118" actId="729"/>
        <pc:sldMkLst>
          <pc:docMk/>
          <pc:sldMk cId="3589548085" sldId="274"/>
        </pc:sldMkLst>
      </pc:sldChg>
      <pc:sldChg chg="mod modShow">
        <pc:chgData name="Frans van Ek" userId="b59dc2308d1d8d79" providerId="LiveId" clId="{C5BB8E73-63A9-494B-80B6-48A99FEF0CAE}" dt="2026-03-09T19:59:43.205" v="118" actId="729"/>
        <pc:sldMkLst>
          <pc:docMk/>
          <pc:sldMk cId="477230018" sldId="275"/>
        </pc:sldMkLst>
      </pc:sldChg>
      <pc:sldChg chg="modSp mod">
        <pc:chgData name="Frans van Ek" userId="b59dc2308d1d8d79" providerId="LiveId" clId="{C5BB8E73-63A9-494B-80B6-48A99FEF0CAE}" dt="2026-03-09T19:58:51.777" v="115" actId="313"/>
        <pc:sldMkLst>
          <pc:docMk/>
          <pc:sldMk cId="1198592637" sldId="278"/>
        </pc:sldMkLst>
        <pc:spChg chg="mod">
          <ac:chgData name="Frans van Ek" userId="b59dc2308d1d8d79" providerId="LiveId" clId="{C5BB8E73-63A9-494B-80B6-48A99FEF0CAE}" dt="2026-03-09T19:57:00.980" v="86" actId="20577"/>
          <ac:spMkLst>
            <pc:docMk/>
            <pc:sldMk cId="1198592637" sldId="278"/>
            <ac:spMk id="8" creationId="{A747C7D7-477D-1A2F-A601-68D9CAB92875}"/>
          </ac:spMkLst>
        </pc:spChg>
        <pc:spChg chg="mod">
          <ac:chgData name="Frans van Ek" userId="b59dc2308d1d8d79" providerId="LiveId" clId="{C5BB8E73-63A9-494B-80B6-48A99FEF0CAE}" dt="2026-03-09T19:58:51.777" v="115" actId="313"/>
          <ac:spMkLst>
            <pc:docMk/>
            <pc:sldMk cId="1198592637" sldId="278"/>
            <ac:spMk id="19" creationId="{FBFE2B09-DEA4-ED70-2D82-D920C27956D6}"/>
          </ac:spMkLst>
        </pc:spChg>
        <pc:spChg chg="mod">
          <ac:chgData name="Frans van Ek" userId="b59dc2308d1d8d79" providerId="LiveId" clId="{C5BB8E73-63A9-494B-80B6-48A99FEF0CAE}" dt="2026-03-09T19:57:42.349" v="98" actId="20577"/>
          <ac:spMkLst>
            <pc:docMk/>
            <pc:sldMk cId="1198592637" sldId="278"/>
            <ac:spMk id="25" creationId="{16C58CBB-E7CC-B0F2-4A35-9D5EE2FC521E}"/>
          </ac:spMkLst>
        </pc:spChg>
        <pc:spChg chg="mod">
          <ac:chgData name="Frans van Ek" userId="b59dc2308d1d8d79" providerId="LiveId" clId="{C5BB8E73-63A9-494B-80B6-48A99FEF0CAE}" dt="2026-03-09T19:58:49.908" v="114" actId="313"/>
          <ac:spMkLst>
            <pc:docMk/>
            <pc:sldMk cId="1198592637" sldId="278"/>
            <ac:spMk id="31" creationId="{55419DDD-611D-50AF-570C-5708A14D0422}"/>
          </ac:spMkLst>
        </pc:spChg>
        <pc:spChg chg="mod">
          <ac:chgData name="Frans van Ek" userId="b59dc2308d1d8d79" providerId="LiveId" clId="{C5BB8E73-63A9-494B-80B6-48A99FEF0CAE}" dt="2026-03-09T19:57:15.687" v="89" actId="20577"/>
          <ac:spMkLst>
            <pc:docMk/>
            <pc:sldMk cId="1198592637" sldId="278"/>
            <ac:spMk id="34" creationId="{32D872B8-8E3D-4605-665D-4756A56C32E5}"/>
          </ac:spMkLst>
        </pc:spChg>
      </pc:sldChg>
      <pc:sldChg chg="addSp delSp modSp mod">
        <pc:chgData name="Frans van Ek" userId="b59dc2308d1d8d79" providerId="LiveId" clId="{C5BB8E73-63A9-494B-80B6-48A99FEF0CAE}" dt="2026-03-09T19:56:00.118" v="23" actId="20577"/>
        <pc:sldMkLst>
          <pc:docMk/>
          <pc:sldMk cId="3800296334" sldId="284"/>
        </pc:sldMkLst>
        <pc:spChg chg="mod">
          <ac:chgData name="Frans van Ek" userId="b59dc2308d1d8d79" providerId="LiveId" clId="{C5BB8E73-63A9-494B-80B6-48A99FEF0CAE}" dt="2026-03-09T19:56:00.118" v="23" actId="20577"/>
          <ac:spMkLst>
            <pc:docMk/>
            <pc:sldMk cId="3800296334" sldId="284"/>
            <ac:spMk id="2" creationId="{91626272-9331-4754-03FD-D3ECE7B28BCC}"/>
          </ac:spMkLst>
        </pc:spChg>
        <pc:spChg chg="mod">
          <ac:chgData name="Frans van Ek" userId="b59dc2308d1d8d79" providerId="LiveId" clId="{C5BB8E73-63A9-494B-80B6-48A99FEF0CAE}" dt="2026-03-09T19:55:37.235" v="12" actId="11530"/>
          <ac:spMkLst>
            <pc:docMk/>
            <pc:sldMk cId="3800296334" sldId="284"/>
            <ac:spMk id="200" creationId="{00000000-0000-0000-0000-000000000000}"/>
          </ac:spMkLst>
        </pc:spChg>
        <pc:spChg chg="add del">
          <ac:chgData name="Frans van Ek" userId="b59dc2308d1d8d79" providerId="LiveId" clId="{C5BB8E73-63A9-494B-80B6-48A99FEF0CAE}" dt="2026-03-09T19:55:27.975" v="11" actId="478"/>
          <ac:spMkLst>
            <pc:docMk/>
            <pc:sldMk cId="3800296334" sldId="284"/>
            <ac:spMk id="201" creationId="{00000000-0000-0000-0000-000000000000}"/>
          </ac:spMkLst>
        </pc:spChg>
        <pc:spChg chg="mod">
          <ac:chgData name="Frans van Ek" userId="b59dc2308d1d8d79" providerId="LiveId" clId="{C5BB8E73-63A9-494B-80B6-48A99FEF0CAE}" dt="2026-03-09T19:54:43.601" v="4" actId="11530"/>
          <ac:spMkLst>
            <pc:docMk/>
            <pc:sldMk cId="3800296334" sldId="284"/>
            <ac:spMk id="209" creationId="{00000000-0000-0000-0000-000000000000}"/>
          </ac:spMkLst>
        </pc:spChg>
        <pc:spChg chg="mod">
          <ac:chgData name="Frans van Ek" userId="b59dc2308d1d8d79" providerId="LiveId" clId="{C5BB8E73-63A9-494B-80B6-48A99FEF0CAE}" dt="2026-03-09T19:54:43.601" v="4" actId="11530"/>
          <ac:spMkLst>
            <pc:docMk/>
            <pc:sldMk cId="3800296334" sldId="284"/>
            <ac:spMk id="213" creationId="{00000000-0000-0000-0000-000000000000}"/>
          </ac:spMkLst>
        </pc:spChg>
        <pc:spChg chg="mod">
          <ac:chgData name="Frans van Ek" userId="b59dc2308d1d8d79" providerId="LiveId" clId="{C5BB8E73-63A9-494B-80B6-48A99FEF0CAE}" dt="2026-03-09T19:54:43.601" v="4" actId="11530"/>
          <ac:spMkLst>
            <pc:docMk/>
            <pc:sldMk cId="3800296334" sldId="284"/>
            <ac:spMk id="214" creationId="{00000000-0000-0000-0000-000000000000}"/>
          </ac:spMkLst>
        </pc:spChg>
        <pc:spChg chg="mod">
          <ac:chgData name="Frans van Ek" userId="b59dc2308d1d8d79" providerId="LiveId" clId="{C5BB8E73-63A9-494B-80B6-48A99FEF0CAE}" dt="2026-03-09T19:54:43.601" v="4" actId="11530"/>
          <ac:spMkLst>
            <pc:docMk/>
            <pc:sldMk cId="3800296334" sldId="284"/>
            <ac:spMk id="216" creationId="{00000000-0000-0000-0000-000000000000}"/>
          </ac:spMkLst>
        </pc:spChg>
        <pc:spChg chg="mod">
          <ac:chgData name="Frans van Ek" userId="b59dc2308d1d8d79" providerId="LiveId" clId="{C5BB8E73-63A9-494B-80B6-48A99FEF0CAE}" dt="2026-03-09T19:54:43.601" v="4" actId="11530"/>
          <ac:spMkLst>
            <pc:docMk/>
            <pc:sldMk cId="3800296334" sldId="284"/>
            <ac:spMk id="219" creationId="{00000000-0000-0000-0000-000000000000}"/>
          </ac:spMkLst>
        </pc:spChg>
        <pc:spChg chg="mod">
          <ac:chgData name="Frans van Ek" userId="b59dc2308d1d8d79" providerId="LiveId" clId="{C5BB8E73-63A9-494B-80B6-48A99FEF0CAE}" dt="2026-03-09T19:54:43.601" v="4" actId="11530"/>
          <ac:spMkLst>
            <pc:docMk/>
            <pc:sldMk cId="3800296334" sldId="284"/>
            <ac:spMk id="222" creationId="{00000000-0000-0000-0000-000000000000}"/>
          </ac:spMkLst>
        </pc:spChg>
        <pc:spChg chg="mod">
          <ac:chgData name="Frans van Ek" userId="b59dc2308d1d8d79" providerId="LiveId" clId="{C5BB8E73-63A9-494B-80B6-48A99FEF0CAE}" dt="2026-03-09T19:54:43.601" v="4" actId="11530"/>
          <ac:spMkLst>
            <pc:docMk/>
            <pc:sldMk cId="3800296334" sldId="284"/>
            <ac:spMk id="225" creationId="{00000000-0000-0000-0000-000000000000}"/>
          </ac:spMkLst>
        </pc:spChg>
        <pc:spChg chg="mod">
          <ac:chgData name="Frans van Ek" userId="b59dc2308d1d8d79" providerId="LiveId" clId="{C5BB8E73-63A9-494B-80B6-48A99FEF0CAE}" dt="2026-03-09T19:54:43.601" v="4" actId="11530"/>
          <ac:spMkLst>
            <pc:docMk/>
            <pc:sldMk cId="3800296334" sldId="284"/>
            <ac:spMk id="226" creationId="{00000000-0000-0000-0000-000000000000}"/>
          </ac:spMkLst>
        </pc:spChg>
        <pc:spChg chg="mod">
          <ac:chgData name="Frans van Ek" userId="b59dc2308d1d8d79" providerId="LiveId" clId="{C5BB8E73-63A9-494B-80B6-48A99FEF0CAE}" dt="2026-03-09T19:54:43.601" v="4" actId="11530"/>
          <ac:spMkLst>
            <pc:docMk/>
            <pc:sldMk cId="3800296334" sldId="284"/>
            <ac:spMk id="227" creationId="{00000000-0000-0000-0000-000000000000}"/>
          </ac:spMkLst>
        </pc:spChg>
        <pc:spChg chg="mod">
          <ac:chgData name="Frans van Ek" userId="b59dc2308d1d8d79" providerId="LiveId" clId="{C5BB8E73-63A9-494B-80B6-48A99FEF0CAE}" dt="2026-03-09T19:54:43.601" v="4" actId="11530"/>
          <ac:spMkLst>
            <pc:docMk/>
            <pc:sldMk cId="3800296334" sldId="284"/>
            <ac:spMk id="228" creationId="{00000000-0000-0000-0000-000000000000}"/>
          </ac:spMkLst>
        </pc:spChg>
        <pc:spChg chg="mod">
          <ac:chgData name="Frans van Ek" userId="b59dc2308d1d8d79" providerId="LiveId" clId="{C5BB8E73-63A9-494B-80B6-48A99FEF0CAE}" dt="2026-03-09T19:55:37.235" v="12" actId="11530"/>
          <ac:spMkLst>
            <pc:docMk/>
            <pc:sldMk cId="3800296334" sldId="284"/>
            <ac:spMk id="229" creationId="{00000000-0000-0000-0000-000000000000}"/>
          </ac:spMkLst>
        </pc:spChg>
        <pc:spChg chg="add del">
          <ac:chgData name="Frans van Ek" userId="b59dc2308d1d8d79" providerId="LiveId" clId="{C5BB8E73-63A9-494B-80B6-48A99FEF0CAE}" dt="2026-03-09T19:55:27.278" v="10" actId="478"/>
          <ac:spMkLst>
            <pc:docMk/>
            <pc:sldMk cId="3800296334" sldId="284"/>
            <ac:spMk id="230" creationId="{00000000-0000-0000-0000-000000000000}"/>
          </ac:spMkLst>
        </pc:spChg>
        <pc:spChg chg="mod">
          <ac:chgData name="Frans van Ek" userId="b59dc2308d1d8d79" providerId="LiveId" clId="{C5BB8E73-63A9-494B-80B6-48A99FEF0CAE}" dt="2026-03-09T19:55:10.452" v="7" actId="404"/>
          <ac:spMkLst>
            <pc:docMk/>
            <pc:sldMk cId="3800296334" sldId="284"/>
            <ac:spMk id="236" creationId="{00000000-0000-0000-0000-000000000000}"/>
          </ac:spMkLst>
        </pc:spChg>
        <pc:spChg chg="mod">
          <ac:chgData name="Frans van Ek" userId="b59dc2308d1d8d79" providerId="LiveId" clId="{C5BB8E73-63A9-494B-80B6-48A99FEF0CAE}" dt="2026-03-09T19:55:10.452" v="7" actId="404"/>
          <ac:spMkLst>
            <pc:docMk/>
            <pc:sldMk cId="3800296334" sldId="284"/>
            <ac:spMk id="237" creationId="{00000000-0000-0000-0000-000000000000}"/>
          </ac:spMkLst>
        </pc:spChg>
        <pc:spChg chg="mod">
          <ac:chgData name="Frans van Ek" userId="b59dc2308d1d8d79" providerId="LiveId" clId="{C5BB8E73-63A9-494B-80B6-48A99FEF0CAE}" dt="2026-03-09T19:55:10.452" v="7" actId="404"/>
          <ac:spMkLst>
            <pc:docMk/>
            <pc:sldMk cId="3800296334" sldId="284"/>
            <ac:spMk id="239" creationId="{00000000-0000-0000-0000-000000000000}"/>
          </ac:spMkLst>
        </pc:spChg>
        <pc:spChg chg="mod">
          <ac:chgData name="Frans van Ek" userId="b59dc2308d1d8d79" providerId="LiveId" clId="{C5BB8E73-63A9-494B-80B6-48A99FEF0CAE}" dt="2026-03-09T19:55:10.452" v="7" actId="404"/>
          <ac:spMkLst>
            <pc:docMk/>
            <pc:sldMk cId="3800296334" sldId="284"/>
            <ac:spMk id="242" creationId="{00000000-0000-0000-0000-000000000000}"/>
          </ac:spMkLst>
        </pc:spChg>
        <pc:spChg chg="mod">
          <ac:chgData name="Frans van Ek" userId="b59dc2308d1d8d79" providerId="LiveId" clId="{C5BB8E73-63A9-494B-80B6-48A99FEF0CAE}" dt="2026-03-09T19:55:10.452" v="7" actId="404"/>
          <ac:spMkLst>
            <pc:docMk/>
            <pc:sldMk cId="3800296334" sldId="284"/>
            <ac:spMk id="243" creationId="{00000000-0000-0000-0000-000000000000}"/>
          </ac:spMkLst>
        </pc:spChg>
        <pc:spChg chg="mod">
          <ac:chgData name="Frans van Ek" userId="b59dc2308d1d8d79" providerId="LiveId" clId="{C5BB8E73-63A9-494B-80B6-48A99FEF0CAE}" dt="2026-03-09T19:55:10.452" v="7" actId="404"/>
          <ac:spMkLst>
            <pc:docMk/>
            <pc:sldMk cId="3800296334" sldId="284"/>
            <ac:spMk id="245" creationId="{00000000-0000-0000-0000-000000000000}"/>
          </ac:spMkLst>
        </pc:spChg>
        <pc:spChg chg="mod">
          <ac:chgData name="Frans van Ek" userId="b59dc2308d1d8d79" providerId="LiveId" clId="{C5BB8E73-63A9-494B-80B6-48A99FEF0CAE}" dt="2026-03-09T19:55:10.452" v="7" actId="404"/>
          <ac:spMkLst>
            <pc:docMk/>
            <pc:sldMk cId="3800296334" sldId="284"/>
            <ac:spMk id="248" creationId="{00000000-0000-0000-0000-000000000000}"/>
          </ac:spMkLst>
        </pc:spChg>
        <pc:spChg chg="mod">
          <ac:chgData name="Frans van Ek" userId="b59dc2308d1d8d79" providerId="LiveId" clId="{C5BB8E73-63A9-494B-80B6-48A99FEF0CAE}" dt="2026-03-09T19:55:10.452" v="7" actId="404"/>
          <ac:spMkLst>
            <pc:docMk/>
            <pc:sldMk cId="3800296334" sldId="284"/>
            <ac:spMk id="254" creationId="{00000000-0000-0000-0000-000000000000}"/>
          </ac:spMkLst>
        </pc:spChg>
        <pc:spChg chg="mod">
          <ac:chgData name="Frans van Ek" userId="b59dc2308d1d8d79" providerId="LiveId" clId="{C5BB8E73-63A9-494B-80B6-48A99FEF0CAE}" dt="2026-03-09T19:55:10.452" v="7" actId="404"/>
          <ac:spMkLst>
            <pc:docMk/>
            <pc:sldMk cId="3800296334" sldId="284"/>
            <ac:spMk id="255" creationId="{00000000-0000-0000-0000-000000000000}"/>
          </ac:spMkLst>
        </pc:spChg>
        <pc:spChg chg="mod">
          <ac:chgData name="Frans van Ek" userId="b59dc2308d1d8d79" providerId="LiveId" clId="{C5BB8E73-63A9-494B-80B6-48A99FEF0CAE}" dt="2026-03-09T19:55:10.452" v="7" actId="404"/>
          <ac:spMkLst>
            <pc:docMk/>
            <pc:sldMk cId="3800296334" sldId="284"/>
            <ac:spMk id="257" creationId="{00000000-0000-0000-0000-000000000000}"/>
          </ac:spMkLst>
        </pc:spChg>
        <pc:spChg chg="del">
          <ac:chgData name="Frans van Ek" userId="b59dc2308d1d8d79" providerId="LiveId" clId="{C5BB8E73-63A9-494B-80B6-48A99FEF0CAE}" dt="2026-03-09T19:55:46.378" v="13" actId="478"/>
          <ac:spMkLst>
            <pc:docMk/>
            <pc:sldMk cId="3800296334" sldId="284"/>
            <ac:spMk id="258" creationId="{00000000-0000-0000-0000-000000000000}"/>
          </ac:spMkLst>
        </pc:spChg>
      </pc:sldChg>
      <pc:sldChg chg="mod modShow">
        <pc:chgData name="Frans van Ek" userId="b59dc2308d1d8d79" providerId="LiveId" clId="{C5BB8E73-63A9-494B-80B6-48A99FEF0CAE}" dt="2026-03-09T19:59:43.205" v="118" actId="729"/>
        <pc:sldMkLst>
          <pc:docMk/>
          <pc:sldMk cId="3999920434"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NL"/>
          </a:p>
        </p:txBody>
      </p:sp>
      <p:sp>
        <p:nvSpPr>
          <p:cNvPr id="3" name="Tijdelijke aanduiding voor datum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01DBDA3-3788-4F52-8C9D-67D423583693}" type="datetimeFigureOut">
              <a:rPr lang="en-NL" smtClean="0"/>
              <a:t>15/03/2026</a:t>
            </a:fld>
            <a:endParaRPr lang="en-NL"/>
          </a:p>
        </p:txBody>
      </p:sp>
      <p:sp>
        <p:nvSpPr>
          <p:cNvPr id="4" name="Tijdelijke aanduiding voor dia-afbeelding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Tijdelijke aanduiding voor notities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6" name="Tijdelijke aanduiding voor voettekst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NL"/>
          </a:p>
        </p:txBody>
      </p:sp>
      <p:sp>
        <p:nvSpPr>
          <p:cNvPr id="7" name="Tijdelijke aanduiding voor dianumm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DB96A09B-7F21-4D71-9B2B-061587ADF762}" type="slidenum">
              <a:rPr lang="en-NL" smtClean="0"/>
              <a:t>‹nr.›</a:t>
            </a:fld>
            <a:endParaRPr lang="en-NL"/>
          </a:p>
        </p:txBody>
      </p:sp>
    </p:spTree>
    <p:extLst>
      <p:ext uri="{BB962C8B-B14F-4D97-AF65-F5344CB8AC3E}">
        <p14:creationId xmlns:p14="http://schemas.microsoft.com/office/powerpoint/2010/main" val="1958321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The purpose of this project was to determine whether ACTUS contract evaluation can scale efficiently to very large portfolios.</a:t>
            </a:r>
          </a:p>
          <a:p>
            <a:r>
              <a:rPr lang="en-US" dirty="0"/>
              <a:t>The reference Java implementation is correct but not optimized for massively parallel hardware.</a:t>
            </a:r>
          </a:p>
          <a:p>
            <a:r>
              <a:rPr lang="en-US" dirty="0"/>
              <a:t>I therefore reimplemented the execution layer in C# using GPU-oriented kernels.</a:t>
            </a:r>
          </a:p>
          <a:p>
            <a:r>
              <a:rPr lang="en-US" dirty="0"/>
              <a:t>The key takeaway: the approach works, scales, and reveals where optimization effort should really be focused.</a:t>
            </a:r>
          </a:p>
          <a:p>
            <a:endParaRPr lang="en-NL" dirty="0"/>
          </a:p>
        </p:txBody>
      </p:sp>
      <p:sp>
        <p:nvSpPr>
          <p:cNvPr id="4" name="Tijdelijke aanduiding voor dianummer 3"/>
          <p:cNvSpPr>
            <a:spLocks noGrp="1"/>
          </p:cNvSpPr>
          <p:nvPr>
            <p:ph type="sldNum" sz="quarter" idx="5"/>
          </p:nvPr>
        </p:nvSpPr>
        <p:spPr/>
        <p:txBody>
          <a:bodyPr/>
          <a:lstStyle/>
          <a:p>
            <a:fld id="{8B373801-CB0C-4265-9BA2-53484904BDD9}" type="slidenum">
              <a:rPr lang="en-NL" smtClean="0"/>
              <a:t>2</a:t>
            </a:fld>
            <a:endParaRPr lang="en-NL"/>
          </a:p>
        </p:txBody>
      </p:sp>
    </p:spTree>
    <p:extLst>
      <p:ext uri="{BB962C8B-B14F-4D97-AF65-F5344CB8AC3E}">
        <p14:creationId xmlns:p14="http://schemas.microsoft.com/office/powerpoint/2010/main" val="2560855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5268-FBC6-FE62-9D7D-C4685604A74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F16592E-DCAC-D4C0-DD91-946E41A6BFC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7B0473A-11A3-8E31-07E2-F96397D4F131}"/>
              </a:ext>
            </a:extLst>
          </p:cNvPr>
          <p:cNvSpPr>
            <a:spLocks noGrp="1"/>
          </p:cNvSpPr>
          <p:nvPr>
            <p:ph type="body" idx="1"/>
          </p:nvPr>
        </p:nvSpPr>
        <p:spPr/>
        <p:txBody>
          <a:bodyPr/>
          <a:lstStyle/>
          <a:p>
            <a:r>
              <a:rPr lang="en-US" dirty="0"/>
              <a:t>The main reason for changing the implementation was not language preference but memory architecture. GPUs are extremely sensitive to how data is arranged in memory. In particular, whether data is stored as an array of structures or a structure of arrays has a measurable impact on throughput because it determines whether memory reads are coalesced or scattered.</a:t>
            </a:r>
          </a:p>
          <a:p>
            <a:r>
              <a:rPr lang="en-US" dirty="0"/>
              <a:t>The Java implementation relies on an object model where each contract is effectively a graph of pointers. That’s ideal for abstraction and maintainability, but it’s inefficient for GPU execution because the hardware prefers contiguous blocks of primitive data. Every pointer dereference becomes a memory stall.</a:t>
            </a:r>
          </a:p>
          <a:p>
            <a:r>
              <a:rPr lang="en-US" dirty="0"/>
              <a:t>To exploit parallel hardware effectively, I needed explicit control over memory layout, batch structure, and transfer boundaries. Reimplementing the execution layer allowed me to flatten the data structures, remove indirection, and align memory access patterns with GPU expectations.</a:t>
            </a:r>
          </a:p>
          <a:p>
            <a:r>
              <a:rPr lang="en-US" dirty="0"/>
              <a:t>So this change was fundamentally about transforming the execution model from an object-oriented layout optimized for clarity into a data-oriented layout optimized for throughput.</a:t>
            </a:r>
          </a:p>
          <a:p>
            <a:endParaRPr lang="en-NL" dirty="0"/>
          </a:p>
        </p:txBody>
      </p:sp>
      <p:sp>
        <p:nvSpPr>
          <p:cNvPr id="4" name="Tijdelijke aanduiding voor dianummer 3">
            <a:extLst>
              <a:ext uri="{FF2B5EF4-FFF2-40B4-BE49-F238E27FC236}">
                <a16:creationId xmlns:a16="http://schemas.microsoft.com/office/drawing/2014/main" id="{044797AF-E315-E997-4277-86915E4FFC7A}"/>
              </a:ext>
            </a:extLst>
          </p:cNvPr>
          <p:cNvSpPr>
            <a:spLocks noGrp="1"/>
          </p:cNvSpPr>
          <p:nvPr>
            <p:ph type="sldNum" sz="quarter" idx="5"/>
          </p:nvPr>
        </p:nvSpPr>
        <p:spPr/>
        <p:txBody>
          <a:bodyPr/>
          <a:lstStyle/>
          <a:p>
            <a:fld id="{8B373801-CB0C-4265-9BA2-53484904BDD9}" type="slidenum">
              <a:rPr lang="en-NL" smtClean="0"/>
              <a:t>4</a:t>
            </a:fld>
            <a:endParaRPr lang="en-NL"/>
          </a:p>
        </p:txBody>
      </p:sp>
    </p:spTree>
    <p:extLst>
      <p:ext uri="{BB962C8B-B14F-4D97-AF65-F5344CB8AC3E}">
        <p14:creationId xmlns:p14="http://schemas.microsoft.com/office/powerpoint/2010/main" val="579483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Once I decided to redesign the execution layer for performance, the key question was which platform would let me do that safely and efficiently.</a:t>
            </a:r>
          </a:p>
          <a:p>
            <a:r>
              <a:rPr lang="en-US" dirty="0"/>
              <a:t>I needed tight control over memory behavior and execution characteristics, because GPU acceleration only works well when the runtime behaves predictably. The .NET platform gives me strong profiling and benchmarking tools, which meant I could measure performance objectively instead of guessing.</a:t>
            </a:r>
          </a:p>
          <a:p>
            <a:r>
              <a:rPr lang="en-US" dirty="0"/>
              <a:t>It also integrates well with GPU-style execution, which was essential for this experiment.</a:t>
            </a:r>
          </a:p>
          <a:p>
            <a:r>
              <a:rPr lang="en-US" dirty="0"/>
              <a:t>Just as important, I chose a platform I know deeply. That reduced implementation risk and allowed me to move faster while still guaranteeing correctness.</a:t>
            </a:r>
          </a:p>
          <a:p>
            <a:r>
              <a:rPr lang="en-US" dirty="0"/>
              <a:t>So my decision to use C# wasn’t about preference — it was about choosing the environment that gave me the most controlled, reliable path to proving performance.</a:t>
            </a:r>
          </a:p>
          <a:p>
            <a:endParaRPr lang="en-NL" dirty="0"/>
          </a:p>
        </p:txBody>
      </p:sp>
      <p:sp>
        <p:nvSpPr>
          <p:cNvPr id="4" name="Tijdelijke aanduiding voor dianummer 3"/>
          <p:cNvSpPr>
            <a:spLocks noGrp="1"/>
          </p:cNvSpPr>
          <p:nvPr>
            <p:ph type="sldNum" sz="quarter" idx="5"/>
          </p:nvPr>
        </p:nvSpPr>
        <p:spPr/>
        <p:txBody>
          <a:bodyPr/>
          <a:lstStyle/>
          <a:p>
            <a:fld id="{8B373801-CB0C-4265-9BA2-53484904BDD9}" type="slidenum">
              <a:rPr lang="en-NL" smtClean="0"/>
              <a:t>5</a:t>
            </a:fld>
            <a:endParaRPr lang="en-NL"/>
          </a:p>
        </p:txBody>
      </p:sp>
    </p:spTree>
    <p:extLst>
      <p:ext uri="{BB962C8B-B14F-4D97-AF65-F5344CB8AC3E}">
        <p14:creationId xmlns:p14="http://schemas.microsoft.com/office/powerpoint/2010/main" val="672516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04DB0142-892B-1280-0E2F-C77EF5444C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2325918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DEE5E799-431C-FE47-5BDB-AAF9BD6641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4116433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C672C6E0-FF16-62C3-CD44-3ECAF3A37DA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114542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457200" lvl="1"/>
            <a:r>
              <a:rPr lang="nl-NL"/>
              <a:t>Tweede niveau</a:t>
            </a:r>
          </a:p>
          <a:p>
            <a:pPr marL="914400" lvl="2"/>
            <a:r>
              <a:rPr lang="nl-NL"/>
              <a:t>Derde niveau</a:t>
            </a:r>
          </a:p>
          <a:p>
            <a:pPr marL="1371600" lvl="3"/>
            <a:r>
              <a:rPr lang="nl-NL"/>
              <a:t>Vierde niveau</a:t>
            </a:r>
          </a:p>
          <a:p>
            <a:pPr marL="182880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49594B55-72EC-AA6F-CF97-6BCBB1BBB7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5750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281B4F8B-DCB7-B642-FD50-1114D96E900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852055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userDrawn="1"/>
        </p:nvSpPr>
        <p:spPr>
          <a:xfrm>
            <a:off x="0" y="0"/>
            <a:ext cx="9144000" cy="731520"/>
          </a:xfrm>
          <a:prstGeom prst="rect">
            <a:avLst/>
          </a:prstGeom>
          <a:solidFill>
            <a:srgbClr val="1C2B39"/>
          </a:solidFill>
          <a:ln/>
        </p:spPr>
        <p:txBody>
          <a:bodyPr/>
          <a:lstStyle/>
          <a:p>
            <a:endParaRPr lang="en-NL" sz="1800"/>
          </a:p>
        </p:txBody>
      </p:sp>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5" name="Graphic 4">
            <a:extLst>
              <a:ext uri="{FF2B5EF4-FFF2-40B4-BE49-F238E27FC236}">
                <a16:creationId xmlns:a16="http://schemas.microsoft.com/office/drawing/2014/main" id="{14E2BFE3-D610-1AFB-5DF1-ECA0F2C28F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78201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7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3" name="Graphic 2">
            <a:extLst>
              <a:ext uri="{FF2B5EF4-FFF2-40B4-BE49-F238E27FC236}">
                <a16:creationId xmlns:a16="http://schemas.microsoft.com/office/drawing/2014/main" id="{05515CD7-9450-8CB9-6CAC-EA5EE72D14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359545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5" name="Graphic 4">
            <a:extLst>
              <a:ext uri="{FF2B5EF4-FFF2-40B4-BE49-F238E27FC236}">
                <a16:creationId xmlns:a16="http://schemas.microsoft.com/office/drawing/2014/main" id="{91FA2F90-7C5E-CB19-17B2-2FDE1D12466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876485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5DD22489-363E-E1FC-B4F2-6BE77B28336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87951" y="30202"/>
            <a:ext cx="687345" cy="801902"/>
          </a:xfrm>
          <a:prstGeom prst="rect">
            <a:avLst/>
          </a:prstGeom>
        </p:spPr>
      </p:pic>
    </p:spTree>
    <p:extLst>
      <p:ext uri="{BB962C8B-B14F-4D97-AF65-F5344CB8AC3E}">
        <p14:creationId xmlns:p14="http://schemas.microsoft.com/office/powerpoint/2010/main" val="2635296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0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3" name="Graphic 2">
            <a:extLst>
              <a:ext uri="{FF2B5EF4-FFF2-40B4-BE49-F238E27FC236}">
                <a16:creationId xmlns:a16="http://schemas.microsoft.com/office/drawing/2014/main" id="{A227A5D4-98EF-779E-1AAC-ABC5F31DFA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762693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CE0F2567-F96A-3150-5255-C3998B2CD4E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165831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75C2220A-5831-914A-F76C-BEECAB15FC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228498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F6D61C92-BCEE-49DD-B1CC-17BBEDD2CC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058960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457200" lvl="1"/>
            <a:r>
              <a:rPr lang="nl-NL"/>
              <a:t>Tweede niveau</a:t>
            </a:r>
          </a:p>
          <a:p>
            <a:pPr marL="914400" lvl="2"/>
            <a:r>
              <a:rPr lang="nl-NL"/>
              <a:t>Derde niveau</a:t>
            </a:r>
          </a:p>
          <a:p>
            <a:pPr marL="1371600" lvl="3"/>
            <a:r>
              <a:rPr lang="nl-NL"/>
              <a:t>Vierde niveau</a:t>
            </a:r>
          </a:p>
          <a:p>
            <a:pPr marL="182880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0AC2E45B-12F5-E700-5726-AB8FFB8AD40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521766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42" name="Graphic 41">
            <a:extLst>
              <a:ext uri="{FF2B5EF4-FFF2-40B4-BE49-F238E27FC236}">
                <a16:creationId xmlns:a16="http://schemas.microsoft.com/office/drawing/2014/main" id="{B461AC38-3F14-D93D-CA57-E7146EB6D7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21878" y="28479"/>
            <a:ext cx="720885" cy="841032"/>
          </a:xfrm>
          <a:prstGeom prst="rect">
            <a:avLst/>
          </a:prstGeom>
        </p:spPr>
      </p:pic>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Tree>
    <p:extLst>
      <p:ext uri="{BB962C8B-B14F-4D97-AF65-F5344CB8AC3E}">
        <p14:creationId xmlns:p14="http://schemas.microsoft.com/office/powerpoint/2010/main" val="3853646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rgbClr val="FFFFFF"/>
                </a:solidFill>
                <a:latin typeface="+mj-lt"/>
                <a:ea typeface="Trebuchet MS" pitchFamily="34" charset="-122"/>
                <a:cs typeface="Trebuchet MS" pitchFamily="34" charset="-120"/>
              </a:rPr>
              <a:t>ACTUS</a:t>
            </a:r>
            <a:endParaRPr lang="en-US" sz="7200" dirty="0">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accent3"/>
                </a:solidFill>
                <a:latin typeface="+mn-lt"/>
                <a:ea typeface="Trebuchet MS" pitchFamily="34" charset="-122"/>
                <a:cs typeface="Trebuchet MS" pitchFamily="34" charset="-120"/>
              </a:rPr>
              <a:t>INSURANCE MODELING</a:t>
            </a:r>
            <a:endParaRPr lang="en-US" sz="1800" dirty="0">
              <a:solidFill>
                <a:schemeClr val="accent3"/>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accent3"/>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3" name="Graphic 2">
            <a:extLst>
              <a:ext uri="{FF2B5EF4-FFF2-40B4-BE49-F238E27FC236}">
                <a16:creationId xmlns:a16="http://schemas.microsoft.com/office/drawing/2014/main" id="{40353DC4-BA50-1CCC-38D9-B93CA338F4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pic>
        <p:nvPicPr>
          <p:cNvPr id="2" name="Graphic 1">
            <a:extLst>
              <a:ext uri="{FF2B5EF4-FFF2-40B4-BE49-F238E27FC236}">
                <a16:creationId xmlns:a16="http://schemas.microsoft.com/office/drawing/2014/main" id="{4D2FEF0C-9B28-5488-8252-B181663FB2D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175123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solidFill>
                  <a:schemeClr val="bg2"/>
                </a:solidFill>
              </a:defRPr>
            </a:lvl1pPr>
            <a:lvl2pPr>
              <a:defRPr lang="nl-NL" sz="2000" dirty="0">
                <a:solidFill>
                  <a:schemeClr val="bg2"/>
                </a:solidFill>
              </a:defRPr>
            </a:lvl2pPr>
            <a:lvl3pPr>
              <a:defRPr lang="nl-NL" sz="1800" dirty="0">
                <a:solidFill>
                  <a:schemeClr val="bg2"/>
                </a:solidFill>
              </a:defRPr>
            </a:lvl3pPr>
            <a:lvl4pPr>
              <a:defRPr lang="nl-NL" sz="1600" dirty="0">
                <a:solidFill>
                  <a:schemeClr val="bg2"/>
                </a:solidFill>
              </a:defRPr>
            </a:lvl4pPr>
            <a:lvl5pPr>
              <a:defRPr lang="en-NL" sz="1600" dirty="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374422F9-CD2F-4043-646C-92C66F889C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72541209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chemeClr val="tx2"/>
          </a:solidFill>
          <a:ln/>
          <a:effectLst>
            <a:outerShdw blurRad="127000" dist="38100" dir="8100000" algn="bl" rotWithShape="0">
              <a:srgbClr val="000000">
                <a:alpha val="12000"/>
              </a:srgbClr>
            </a:outerShdw>
          </a:effectLst>
        </p:spPr>
        <p:txBody>
          <a:bodyPr/>
          <a:lstStyle>
            <a:lvl1pPr>
              <a:defRPr lang="nl-NL" sz="1800">
                <a:solidFill>
                  <a:schemeClr val="bg2"/>
                </a:solidFill>
              </a:defRPr>
            </a:lvl1pPr>
            <a:lvl2pPr>
              <a:defRPr lang="nl-NL" sz="1800">
                <a:solidFill>
                  <a:schemeClr val="bg2"/>
                </a:solidFill>
              </a:defRPr>
            </a:lvl2pPr>
            <a:lvl3pPr>
              <a:defRPr lang="nl-NL" sz="1800">
                <a:solidFill>
                  <a:schemeClr val="bg2"/>
                </a:solidFill>
              </a:defRPr>
            </a:lvl3pPr>
            <a:lvl4pPr>
              <a:defRPr lang="nl-NL" sz="1800">
                <a:solidFill>
                  <a:schemeClr val="bg2"/>
                </a:solidFill>
              </a:defRPr>
            </a:lvl4pPr>
            <a:lvl5pPr>
              <a:defRPr lang="en-NL" sz="1800">
                <a:solidFill>
                  <a:schemeClr val="bg2"/>
                </a:solidFill>
              </a:defRPr>
            </a:lvl5pPr>
          </a:lstStyle>
          <a:p>
            <a:pPr marL="0" lvl="0"/>
            <a:r>
              <a:rPr lang="nl-NL"/>
              <a:t>Klikken om de tekststijl van het model te bewerken</a:t>
            </a:r>
          </a:p>
          <a:p>
            <a:pPr marL="0" lvl="1"/>
            <a:r>
              <a:rPr lang="nl-NL"/>
              <a:t>Tweede niveau</a:t>
            </a:r>
          </a:p>
          <a:p>
            <a:pPr marL="0" lvl="2"/>
            <a:r>
              <a:rPr lang="nl-NL"/>
              <a:t>Derde niveau</a:t>
            </a:r>
          </a:p>
          <a:p>
            <a:pPr marL="0" lvl="3"/>
            <a:r>
              <a:rPr lang="nl-NL"/>
              <a:t>Vierde niveau</a:t>
            </a:r>
          </a:p>
          <a:p>
            <a:pPr marL="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EF41D0D1-45F8-1E34-A2AF-E7FED958BE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36299281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1813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userDrawn="1"/>
        </p:nvSpPr>
        <p:spPr>
          <a:xfrm>
            <a:off x="0" y="0"/>
            <a:ext cx="9144000" cy="731520"/>
          </a:xfrm>
          <a:prstGeom prst="rect">
            <a:avLst/>
          </a:prstGeom>
          <a:solidFill>
            <a:srgbClr val="1C2B39"/>
          </a:solidFill>
          <a:ln/>
        </p:spPr>
        <p:txBody>
          <a:bodyPr/>
          <a:lstStyle/>
          <a:p>
            <a:endParaRPr lang="en-NL" sz="1800"/>
          </a:p>
        </p:txBody>
      </p:sp>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5" name="Graphic 4">
            <a:extLst>
              <a:ext uri="{FF2B5EF4-FFF2-40B4-BE49-F238E27FC236}">
                <a16:creationId xmlns:a16="http://schemas.microsoft.com/office/drawing/2014/main" id="{DE59BBBB-6BFE-59DA-E0EA-CF203A1A11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691395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4_Aangepaste indeling">
    <p:spTree>
      <p:nvGrpSpPr>
        <p:cNvPr id="1" name=""/>
        <p:cNvGrpSpPr/>
        <p:nvPr/>
      </p:nvGrpSpPr>
      <p:grpSpPr>
        <a:xfrm>
          <a:off x="0" y="0"/>
          <a:ext cx="0" cy="0"/>
          <a:chOff x="0" y="0"/>
          <a:chExt cx="0" cy="0"/>
        </a:xfrm>
      </p:grpSpPr>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15AC2C8D-E5F6-661C-271D-DB9E81B6BAB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928946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04DB0142-892B-1280-0E2F-C77EF5444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8040026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DEE5E799-431C-FE47-5BDB-AAF9BD6641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8000966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C672C6E0-FF16-62C3-CD44-3ECAF3A37D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5433356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0" lvl="1"/>
            <a:r>
              <a:rPr lang="nl-NL"/>
              <a:t>Tweede niveau</a:t>
            </a:r>
          </a:p>
          <a:p>
            <a:pPr marL="0" lvl="2"/>
            <a:r>
              <a:rPr lang="nl-NL"/>
              <a:t>Derde niveau</a:t>
            </a:r>
          </a:p>
          <a:p>
            <a:pPr marL="0" lvl="3"/>
            <a:r>
              <a:rPr lang="nl-NL"/>
              <a:t>Vierde niveau</a:t>
            </a:r>
          </a:p>
          <a:p>
            <a:pPr marL="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49594B55-72EC-AA6F-CF97-6BCBB1BBB7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0073332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977829E5-7655-62ED-D97D-98E5B7D73A0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388482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CE0F2567-F96A-3150-5255-C3998B2CD4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33252133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75C2220A-5831-914A-F76C-BEECAB15FC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5156087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F6D61C92-BCEE-49DD-B1CC-17BBEDD2CC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4110214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0" lvl="1"/>
            <a:r>
              <a:rPr lang="nl-NL"/>
              <a:t>Tweede niveau</a:t>
            </a:r>
          </a:p>
          <a:p>
            <a:pPr marL="0" lvl="2"/>
            <a:r>
              <a:rPr lang="nl-NL"/>
              <a:t>Derde niveau</a:t>
            </a:r>
          </a:p>
          <a:p>
            <a:pPr marL="0" lvl="3"/>
            <a:r>
              <a:rPr lang="nl-NL"/>
              <a:t>Vierde niveau</a:t>
            </a:r>
          </a:p>
          <a:p>
            <a:pPr marL="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0AC2E45B-12F5-E700-5726-AB8FFB8AD4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7466877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1546C469-1A9E-9674-4894-A4C583E2E0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4824833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userDrawn="1"/>
        </p:nvSpPr>
        <p:spPr>
          <a:xfrm>
            <a:off x="0" y="0"/>
            <a:ext cx="9144000" cy="731520"/>
          </a:xfrm>
          <a:prstGeom prst="rect">
            <a:avLst/>
          </a:prstGeom>
          <a:solidFill>
            <a:srgbClr val="1C2B39"/>
          </a:solidFill>
          <a:ln/>
        </p:spPr>
        <p:txBody>
          <a:bodyPr/>
          <a:lstStyle/>
          <a:p>
            <a:endParaRPr lang="en-NL" sz="1800"/>
          </a:p>
        </p:txBody>
      </p:sp>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5" name="Graphic 4">
            <a:extLst>
              <a:ext uri="{FF2B5EF4-FFF2-40B4-BE49-F238E27FC236}">
                <a16:creationId xmlns:a16="http://schemas.microsoft.com/office/drawing/2014/main" id="{0EDAB47E-AF92-2407-0C15-A1BE503B26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807651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2.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4.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308224764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7" r:id="rId3"/>
    <p:sldLayoutId id="2147483658" r:id="rId4"/>
    <p:sldLayoutId id="2147483654" r:id="rId5"/>
    <p:sldLayoutId id="2147483675" r:id="rId6"/>
    <p:sldLayoutId id="2147483671" r:id="rId7"/>
    <p:sldLayoutId id="2147483672" r:id="rId8"/>
    <p:sldLayoutId id="2147483673" r:id="rId9"/>
    <p:sldLayoutId id="2147483674"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424229585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7" r:id="rId3"/>
    <p:sldLayoutId id="2147483668" r:id="rId4"/>
    <p:sldLayoutId id="2147483669"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5" name="Shape 1">
            <a:extLst>
              <a:ext uri="{FF2B5EF4-FFF2-40B4-BE49-F238E27FC236}">
                <a16:creationId xmlns:a16="http://schemas.microsoft.com/office/drawing/2014/main" id="{23D0BDF3-0DAE-C60D-2D6A-8101725359A1}"/>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14599355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8141239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71352324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0DBA6A-C036-4625-8649-4B818A74FDA3}"/>
              </a:ext>
            </a:extLst>
          </p:cNvPr>
          <p:cNvSpPr>
            <a:spLocks noGrp="1"/>
          </p:cNvSpPr>
          <p:nvPr>
            <p:ph type="title"/>
          </p:nvPr>
        </p:nvSpPr>
        <p:spPr/>
        <p:txBody>
          <a:bodyPr/>
          <a:lstStyle/>
          <a:p>
            <a:r>
              <a:rPr lang="en-GB" dirty="0"/>
              <a:t>From Single Lane to a Thousand-Lane Highway</a:t>
            </a:r>
            <a:endParaRPr lang="en-NL" dirty="0"/>
          </a:p>
        </p:txBody>
      </p:sp>
    </p:spTree>
    <p:extLst>
      <p:ext uri="{BB962C8B-B14F-4D97-AF65-F5344CB8AC3E}">
        <p14:creationId xmlns:p14="http://schemas.microsoft.com/office/powerpoint/2010/main" val="2133007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0DDAE1-C75F-B2A8-87C7-39DF147F2C1F}"/>
              </a:ext>
            </a:extLst>
          </p:cNvPr>
          <p:cNvSpPr>
            <a:spLocks noGrp="1"/>
          </p:cNvSpPr>
          <p:nvPr>
            <p:ph type="title"/>
          </p:nvPr>
        </p:nvSpPr>
        <p:spPr/>
        <p:txBody>
          <a:bodyPr/>
          <a:lstStyle/>
          <a:p>
            <a:r>
              <a:rPr lang="en-GB" dirty="0"/>
              <a:t>What is ACTUS?</a:t>
            </a:r>
            <a:endParaRPr lang="en-NL" dirty="0"/>
          </a:p>
        </p:txBody>
      </p:sp>
      <p:grpSp>
        <p:nvGrpSpPr>
          <p:cNvPr id="4" name="Groep 3">
            <a:extLst>
              <a:ext uri="{FF2B5EF4-FFF2-40B4-BE49-F238E27FC236}">
                <a16:creationId xmlns:a16="http://schemas.microsoft.com/office/drawing/2014/main" id="{DD614DD8-DDB6-BF55-A6A2-A1C86A426642}"/>
              </a:ext>
            </a:extLst>
          </p:cNvPr>
          <p:cNvGrpSpPr/>
          <p:nvPr/>
        </p:nvGrpSpPr>
        <p:grpSpPr>
          <a:xfrm>
            <a:off x="706232" y="1510329"/>
            <a:ext cx="2468880" cy="2122843"/>
            <a:chOff x="5853953" y="1717637"/>
            <a:chExt cx="2239922" cy="2194560"/>
          </a:xfrm>
        </p:grpSpPr>
        <p:sp>
          <p:nvSpPr>
            <p:cNvPr id="5" name="Shape 4">
              <a:extLst>
                <a:ext uri="{FF2B5EF4-FFF2-40B4-BE49-F238E27FC236}">
                  <a16:creationId xmlns:a16="http://schemas.microsoft.com/office/drawing/2014/main" id="{C1664C36-2E1E-2044-E31F-2B170E3259B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6" name="Shape 5">
              <a:extLst>
                <a:ext uri="{FF2B5EF4-FFF2-40B4-BE49-F238E27FC236}">
                  <a16:creationId xmlns:a16="http://schemas.microsoft.com/office/drawing/2014/main" id="{4872F6E5-6D27-F410-F1B2-ED080681D756}"/>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7" name="Text 6">
              <a:extLst>
                <a:ext uri="{FF2B5EF4-FFF2-40B4-BE49-F238E27FC236}">
                  <a16:creationId xmlns:a16="http://schemas.microsoft.com/office/drawing/2014/main" id="{B62E6E7D-ABF6-E7CE-82A4-909471F7404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The Rulebook</a:t>
              </a:r>
              <a:endParaRPr lang="en-US" sz="1400" dirty="0">
                <a:solidFill>
                  <a:schemeClr val="bg2"/>
                </a:solidFill>
              </a:endParaRPr>
            </a:p>
          </p:txBody>
        </p:sp>
        <p:sp>
          <p:nvSpPr>
            <p:cNvPr id="8" name="Text 7">
              <a:extLst>
                <a:ext uri="{FF2B5EF4-FFF2-40B4-BE49-F238E27FC236}">
                  <a16:creationId xmlns:a16="http://schemas.microsoft.com/office/drawing/2014/main" id="{BEE9DBFA-247A-9278-3D9E-3E2427808002}"/>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000" dirty="0">
                  <a:solidFill>
                    <a:schemeClr val="accent3"/>
                  </a:solidFill>
                </a:rPr>
                <a:t>ACTUS (Algorithmic Contract Types Unified Standards) defines precisely how every type of financial contract behaves — when payments occur, how interest accrues, what happens at maturity.</a:t>
              </a:r>
            </a:p>
          </p:txBody>
        </p:sp>
        <p:sp>
          <p:nvSpPr>
            <p:cNvPr id="9" name="Text 8">
              <a:extLst>
                <a:ext uri="{FF2B5EF4-FFF2-40B4-BE49-F238E27FC236}">
                  <a16:creationId xmlns:a16="http://schemas.microsoft.com/office/drawing/2014/main" id="{1B728989-579D-295B-90D3-5DABB0133DBF}"/>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10" name="Groep 9">
            <a:extLst>
              <a:ext uri="{FF2B5EF4-FFF2-40B4-BE49-F238E27FC236}">
                <a16:creationId xmlns:a16="http://schemas.microsoft.com/office/drawing/2014/main" id="{1E9D3A7F-48E1-98C1-7F6C-4D5287AC8922}"/>
              </a:ext>
            </a:extLst>
          </p:cNvPr>
          <p:cNvGrpSpPr/>
          <p:nvPr/>
        </p:nvGrpSpPr>
        <p:grpSpPr>
          <a:xfrm>
            <a:off x="5751761" y="1510329"/>
            <a:ext cx="2468880" cy="2122843"/>
            <a:chOff x="5853953" y="1717637"/>
            <a:chExt cx="2239922" cy="2194560"/>
          </a:xfrm>
        </p:grpSpPr>
        <p:sp>
          <p:nvSpPr>
            <p:cNvPr id="11" name="Shape 4">
              <a:extLst>
                <a:ext uri="{FF2B5EF4-FFF2-40B4-BE49-F238E27FC236}">
                  <a16:creationId xmlns:a16="http://schemas.microsoft.com/office/drawing/2014/main" id="{96FD4223-6906-3799-E2CA-4ED31FD7CE71}"/>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2" name="Shape 5">
              <a:extLst>
                <a:ext uri="{FF2B5EF4-FFF2-40B4-BE49-F238E27FC236}">
                  <a16:creationId xmlns:a16="http://schemas.microsoft.com/office/drawing/2014/main" id="{0759978F-BD29-772C-F8B8-70A335BB64BC}"/>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3" name="Text 6">
              <a:extLst>
                <a:ext uri="{FF2B5EF4-FFF2-40B4-BE49-F238E27FC236}">
                  <a16:creationId xmlns:a16="http://schemas.microsoft.com/office/drawing/2014/main" id="{3168F2DB-A2F4-28CC-086D-28CBE146AEBD}"/>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Determinism</a:t>
              </a:r>
              <a:endParaRPr lang="en-US" sz="1400" dirty="0">
                <a:solidFill>
                  <a:schemeClr val="bg2"/>
                </a:solidFill>
              </a:endParaRPr>
            </a:p>
          </p:txBody>
        </p:sp>
        <p:sp>
          <p:nvSpPr>
            <p:cNvPr id="14" name="Text 7">
              <a:extLst>
                <a:ext uri="{FF2B5EF4-FFF2-40B4-BE49-F238E27FC236}">
                  <a16:creationId xmlns:a16="http://schemas.microsoft.com/office/drawing/2014/main" id="{E52F59A3-2205-CCE8-2480-CCFF1C998D78}"/>
                </a:ext>
              </a:extLst>
            </p:cNvPr>
            <p:cNvSpPr/>
            <p:nvPr/>
          </p:nvSpPr>
          <p:spPr>
            <a:xfrm>
              <a:off x="5935438" y="2174837"/>
              <a:ext cx="2012133" cy="1547457"/>
            </a:xfrm>
            <a:prstGeom prst="rect">
              <a:avLst/>
            </a:prstGeom>
            <a:noFill/>
            <a:ln/>
          </p:spPr>
          <p:txBody>
            <a:bodyPr wrap="square" rtlCol="0" anchor="t"/>
            <a:lstStyle/>
            <a:p>
              <a:pPr>
                <a:lnSpc>
                  <a:spcPct val="140000"/>
                </a:lnSpc>
              </a:pPr>
              <a:r>
                <a:rPr lang="en-US" sz="1000" dirty="0">
                  <a:solidFill>
                    <a:schemeClr val="accent3"/>
                  </a:solidFill>
                </a:rPr>
                <a:t>Given the same contract and market data, ACTUS always produces the same cash flows. No interpretation, no ambiguity — exactly what regulators and auditors need.</a:t>
              </a:r>
            </a:p>
          </p:txBody>
        </p:sp>
        <p:sp>
          <p:nvSpPr>
            <p:cNvPr id="15" name="Text 8">
              <a:extLst>
                <a:ext uri="{FF2B5EF4-FFF2-40B4-BE49-F238E27FC236}">
                  <a16:creationId xmlns:a16="http://schemas.microsoft.com/office/drawing/2014/main" id="{F59081B5-1BDB-3C7A-B89B-825C4A97597C}"/>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03</a:t>
              </a:r>
              <a:endParaRPr lang="en-US" sz="2800" dirty="0">
                <a:solidFill>
                  <a:schemeClr val="accent1"/>
                </a:solidFill>
              </a:endParaRPr>
            </a:p>
          </p:txBody>
        </p:sp>
      </p:grpSp>
      <p:grpSp>
        <p:nvGrpSpPr>
          <p:cNvPr id="16" name="Groep 15">
            <a:extLst>
              <a:ext uri="{FF2B5EF4-FFF2-40B4-BE49-F238E27FC236}">
                <a16:creationId xmlns:a16="http://schemas.microsoft.com/office/drawing/2014/main" id="{71AF748B-5EA1-09E0-F509-6B4E1E07C94C}"/>
              </a:ext>
            </a:extLst>
          </p:cNvPr>
          <p:cNvGrpSpPr/>
          <p:nvPr/>
        </p:nvGrpSpPr>
        <p:grpSpPr>
          <a:xfrm>
            <a:off x="3228997" y="1510329"/>
            <a:ext cx="2468880" cy="2122843"/>
            <a:chOff x="5853953" y="1717637"/>
            <a:chExt cx="2239922" cy="2194560"/>
          </a:xfrm>
        </p:grpSpPr>
        <p:sp>
          <p:nvSpPr>
            <p:cNvPr id="17" name="Shape 4">
              <a:extLst>
                <a:ext uri="{FF2B5EF4-FFF2-40B4-BE49-F238E27FC236}">
                  <a16:creationId xmlns:a16="http://schemas.microsoft.com/office/drawing/2014/main" id="{B64260CD-6AF5-31FC-3EA4-3AE97860196A}"/>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8" name="Shape 5">
              <a:extLst>
                <a:ext uri="{FF2B5EF4-FFF2-40B4-BE49-F238E27FC236}">
                  <a16:creationId xmlns:a16="http://schemas.microsoft.com/office/drawing/2014/main" id="{D019E820-B586-B2E0-FB20-FE0A98D30997}"/>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9" name="Text 6">
              <a:extLst>
                <a:ext uri="{FF2B5EF4-FFF2-40B4-BE49-F238E27FC236}">
                  <a16:creationId xmlns:a16="http://schemas.microsoft.com/office/drawing/2014/main" id="{568857D3-8693-878D-428A-E378D79348A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The Challenge</a:t>
              </a:r>
              <a:endParaRPr lang="en-US" sz="1400" dirty="0">
                <a:solidFill>
                  <a:schemeClr val="bg2"/>
                </a:solidFill>
              </a:endParaRPr>
            </a:p>
          </p:txBody>
        </p:sp>
        <p:sp>
          <p:nvSpPr>
            <p:cNvPr id="20" name="Text 7">
              <a:extLst>
                <a:ext uri="{FF2B5EF4-FFF2-40B4-BE49-F238E27FC236}">
                  <a16:creationId xmlns:a16="http://schemas.microsoft.com/office/drawing/2014/main" id="{DA0F05AD-6B8D-7C91-405C-B9B57BCF82E7}"/>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000" dirty="0">
                  <a:solidFill>
                    <a:schemeClr val="accent3"/>
                  </a:solidFill>
                </a:rPr>
                <a:t>The reference Java implementation is correct but processes one contract at a time. With 100,000 contracts and 1,000 scenarios, that is 100 million test runs — far too slow.</a:t>
              </a:r>
            </a:p>
          </p:txBody>
        </p:sp>
        <p:sp>
          <p:nvSpPr>
            <p:cNvPr id="21" name="Text 8">
              <a:extLst>
                <a:ext uri="{FF2B5EF4-FFF2-40B4-BE49-F238E27FC236}">
                  <a16:creationId xmlns:a16="http://schemas.microsoft.com/office/drawing/2014/main" id="{8B0632BF-D510-734E-95C4-07EFB71AE2B7}"/>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02</a:t>
              </a:r>
              <a:endParaRPr lang="en-US" sz="2800" dirty="0">
                <a:solidFill>
                  <a:schemeClr val="accent1"/>
                </a:solidFill>
              </a:endParaRPr>
            </a:p>
          </p:txBody>
        </p:sp>
      </p:grpSp>
      <p:grpSp>
        <p:nvGrpSpPr>
          <p:cNvPr id="22" name="Groep 21">
            <a:extLst>
              <a:ext uri="{FF2B5EF4-FFF2-40B4-BE49-F238E27FC236}">
                <a16:creationId xmlns:a16="http://schemas.microsoft.com/office/drawing/2014/main" id="{A2D7E9C0-BD49-0E0A-FB76-3797012AF59C}"/>
              </a:ext>
            </a:extLst>
          </p:cNvPr>
          <p:cNvGrpSpPr/>
          <p:nvPr/>
        </p:nvGrpSpPr>
        <p:grpSpPr>
          <a:xfrm>
            <a:off x="747708" y="4247555"/>
            <a:ext cx="7442698" cy="347472"/>
            <a:chOff x="5303520" y="3447288"/>
            <a:chExt cx="3529584" cy="347472"/>
          </a:xfrm>
        </p:grpSpPr>
        <p:sp>
          <p:nvSpPr>
            <p:cNvPr id="23" name="Shape 19">
              <a:extLst>
                <a:ext uri="{FF2B5EF4-FFF2-40B4-BE49-F238E27FC236}">
                  <a16:creationId xmlns:a16="http://schemas.microsoft.com/office/drawing/2014/main" id="{FEF22AFC-11D0-4004-879F-688B71D599BB}"/>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24" name="Text 20">
              <a:extLst>
                <a:ext uri="{FF2B5EF4-FFF2-40B4-BE49-F238E27FC236}">
                  <a16:creationId xmlns:a16="http://schemas.microsoft.com/office/drawing/2014/main" id="{DDF3BF4A-1C63-95C7-A5A1-206668F70629}"/>
                </a:ext>
              </a:extLst>
            </p:cNvPr>
            <p:cNvSpPr/>
            <p:nvPr/>
          </p:nvSpPr>
          <p:spPr>
            <a:xfrm>
              <a:off x="5449824" y="3447288"/>
              <a:ext cx="3383280" cy="347472"/>
            </a:xfrm>
            <a:prstGeom prst="rect">
              <a:avLst/>
            </a:prstGeom>
            <a:noFill/>
            <a:ln/>
          </p:spPr>
          <p:txBody>
            <a:bodyPr wrap="square" rtlCol="0" anchor="ctr"/>
            <a:lstStyle/>
            <a:p>
              <a:r>
                <a:rPr lang="en-US" sz="1500" dirty="0">
                  <a:solidFill>
                    <a:schemeClr val="accent3"/>
                  </a:solidFill>
                </a:rPr>
                <a:t>Strategic Result </a:t>
              </a:r>
              <a:r>
                <a:rPr lang="en-US" sz="1500" b="1" dirty="0">
                  <a:solidFill>
                    <a:schemeClr val="accent3"/>
                  </a:solidFill>
                </a:rPr>
                <a:t>:  ACTUS is the rulebook. The challenge was building a track fast enough to use it at institutional scale.</a:t>
              </a:r>
            </a:p>
          </p:txBody>
        </p:sp>
      </p:grpSp>
    </p:spTree>
    <p:extLst>
      <p:ext uri="{BB962C8B-B14F-4D97-AF65-F5344CB8AC3E}">
        <p14:creationId xmlns:p14="http://schemas.microsoft.com/office/powerpoint/2010/main" val="731859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3232B1-229E-AA60-9AC1-29D995E2B0FD}"/>
              </a:ext>
            </a:extLst>
          </p:cNvPr>
          <p:cNvSpPr>
            <a:spLocks noGrp="1"/>
          </p:cNvSpPr>
          <p:nvPr>
            <p:ph type="title"/>
          </p:nvPr>
        </p:nvSpPr>
        <p:spPr/>
        <p:txBody>
          <a:bodyPr/>
          <a:lstStyle/>
          <a:p>
            <a:r>
              <a:rPr lang="en-US" dirty="0"/>
              <a:t>The Scale Challenge</a:t>
            </a:r>
            <a:endParaRPr lang="en-NL" dirty="0"/>
          </a:p>
        </p:txBody>
      </p:sp>
      <p:grpSp>
        <p:nvGrpSpPr>
          <p:cNvPr id="5" name="Groep 4">
            <a:extLst>
              <a:ext uri="{FF2B5EF4-FFF2-40B4-BE49-F238E27FC236}">
                <a16:creationId xmlns:a16="http://schemas.microsoft.com/office/drawing/2014/main" id="{2BAA1B8A-C23E-0EBC-A5C3-12ACA75B3D6D}"/>
              </a:ext>
            </a:extLst>
          </p:cNvPr>
          <p:cNvGrpSpPr/>
          <p:nvPr/>
        </p:nvGrpSpPr>
        <p:grpSpPr>
          <a:xfrm>
            <a:off x="607969" y="1576016"/>
            <a:ext cx="2468880" cy="2122843"/>
            <a:chOff x="5853953" y="1717637"/>
            <a:chExt cx="2239922" cy="2194560"/>
          </a:xfrm>
        </p:grpSpPr>
        <p:sp>
          <p:nvSpPr>
            <p:cNvPr id="6" name="Shape 4">
              <a:extLst>
                <a:ext uri="{FF2B5EF4-FFF2-40B4-BE49-F238E27FC236}">
                  <a16:creationId xmlns:a16="http://schemas.microsoft.com/office/drawing/2014/main" id="{941FF097-B287-4C2D-AB53-76F72F84C125}"/>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7" name="Shape 5">
              <a:extLst>
                <a:ext uri="{FF2B5EF4-FFF2-40B4-BE49-F238E27FC236}">
                  <a16:creationId xmlns:a16="http://schemas.microsoft.com/office/drawing/2014/main" id="{3D43320D-B0F1-050D-6971-6A33AE90E185}"/>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8" name="Text 6">
              <a:extLst>
                <a:ext uri="{FF2B5EF4-FFF2-40B4-BE49-F238E27FC236}">
                  <a16:creationId xmlns:a16="http://schemas.microsoft.com/office/drawing/2014/main" id="{0E93265E-5996-745F-C8C3-561B3645833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100,000 Contracts</a:t>
              </a:r>
              <a:endParaRPr lang="en-US" sz="1400" dirty="0">
                <a:solidFill>
                  <a:schemeClr val="bg2"/>
                </a:solidFill>
              </a:endParaRPr>
            </a:p>
          </p:txBody>
        </p:sp>
        <p:sp>
          <p:nvSpPr>
            <p:cNvPr id="9" name="Text 7">
              <a:extLst>
                <a:ext uri="{FF2B5EF4-FFF2-40B4-BE49-F238E27FC236}">
                  <a16:creationId xmlns:a16="http://schemas.microsoft.com/office/drawing/2014/main" id="{F12377BF-AEA6-CCB6-2C4E-6DF27068F760}"/>
                </a:ext>
              </a:extLst>
            </p:cNvPr>
            <p:cNvSpPr/>
            <p:nvPr/>
          </p:nvSpPr>
          <p:spPr>
            <a:xfrm>
              <a:off x="5935438" y="2381209"/>
              <a:ext cx="2012133" cy="822960"/>
            </a:xfrm>
            <a:prstGeom prst="rect">
              <a:avLst/>
            </a:prstGeom>
            <a:noFill/>
            <a:ln/>
          </p:spPr>
          <p:txBody>
            <a:bodyPr wrap="square" rtlCol="0" anchor="ctr"/>
            <a:lstStyle/>
            <a:p>
              <a:pPr>
                <a:lnSpc>
                  <a:spcPct val="140000"/>
                </a:lnSpc>
              </a:pPr>
              <a:r>
                <a:rPr lang="en-US" sz="1100" dirty="0">
                  <a:solidFill>
                    <a:schemeClr val="accent3"/>
                  </a:solidFill>
                </a:rPr>
                <a:t>A typical institutional portfolio. Each contract — a loan, deposit, bond, or insurance policy — needs to be evaluated under every possible future scenario.</a:t>
              </a:r>
            </a:p>
          </p:txBody>
        </p:sp>
        <p:sp>
          <p:nvSpPr>
            <p:cNvPr id="10" name="Text 8">
              <a:extLst>
                <a:ext uri="{FF2B5EF4-FFF2-40B4-BE49-F238E27FC236}">
                  <a16:creationId xmlns:a16="http://schemas.microsoft.com/office/drawing/2014/main" id="{9F17BA78-7D06-E391-DCAD-EEACE186DE2E}"/>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11" name="Groep 10">
            <a:extLst>
              <a:ext uri="{FF2B5EF4-FFF2-40B4-BE49-F238E27FC236}">
                <a16:creationId xmlns:a16="http://schemas.microsoft.com/office/drawing/2014/main" id="{5628EBF0-5C43-A44B-1343-5C92DBD9C85A}"/>
              </a:ext>
            </a:extLst>
          </p:cNvPr>
          <p:cNvGrpSpPr/>
          <p:nvPr/>
        </p:nvGrpSpPr>
        <p:grpSpPr>
          <a:xfrm>
            <a:off x="3398674" y="1576016"/>
            <a:ext cx="2468880" cy="2122843"/>
            <a:chOff x="5853953" y="1717637"/>
            <a:chExt cx="2239922" cy="2194560"/>
          </a:xfrm>
        </p:grpSpPr>
        <p:sp>
          <p:nvSpPr>
            <p:cNvPr id="12" name="Shape 4">
              <a:extLst>
                <a:ext uri="{FF2B5EF4-FFF2-40B4-BE49-F238E27FC236}">
                  <a16:creationId xmlns:a16="http://schemas.microsoft.com/office/drawing/2014/main" id="{B1011903-6C30-A548-0617-A03435F99EE9}"/>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3" name="Shape 5">
              <a:extLst>
                <a:ext uri="{FF2B5EF4-FFF2-40B4-BE49-F238E27FC236}">
                  <a16:creationId xmlns:a16="http://schemas.microsoft.com/office/drawing/2014/main" id="{C42FBA51-F060-A7D6-0A4D-FCEF2DC55CC8}"/>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4" name="Text 6">
              <a:extLst>
                <a:ext uri="{FF2B5EF4-FFF2-40B4-BE49-F238E27FC236}">
                  <a16:creationId xmlns:a16="http://schemas.microsoft.com/office/drawing/2014/main" id="{80F95C35-826E-7A6C-C507-8194754F9AFC}"/>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1,000 Scenarios</a:t>
              </a:r>
              <a:endParaRPr lang="en-US" sz="1400" dirty="0">
                <a:solidFill>
                  <a:schemeClr val="bg2"/>
                </a:solidFill>
              </a:endParaRPr>
            </a:p>
          </p:txBody>
        </p:sp>
        <p:sp>
          <p:nvSpPr>
            <p:cNvPr id="15" name="Text 7">
              <a:extLst>
                <a:ext uri="{FF2B5EF4-FFF2-40B4-BE49-F238E27FC236}">
                  <a16:creationId xmlns:a16="http://schemas.microsoft.com/office/drawing/2014/main" id="{7665E38D-CDC9-21EF-EAB3-0D47B0EBF1F6}"/>
                </a:ext>
              </a:extLst>
            </p:cNvPr>
            <p:cNvSpPr/>
            <p:nvPr/>
          </p:nvSpPr>
          <p:spPr>
            <a:xfrm>
              <a:off x="5935437" y="2377269"/>
              <a:ext cx="2012133" cy="822960"/>
            </a:xfrm>
            <a:prstGeom prst="rect">
              <a:avLst/>
            </a:prstGeom>
            <a:noFill/>
            <a:ln/>
          </p:spPr>
          <p:txBody>
            <a:bodyPr wrap="square" rtlCol="0" anchor="ctr"/>
            <a:lstStyle/>
            <a:p>
              <a:pPr>
                <a:lnSpc>
                  <a:spcPct val="140000"/>
                </a:lnSpc>
              </a:pPr>
              <a:r>
                <a:rPr lang="en-US" sz="1100" dirty="0">
                  <a:solidFill>
                    <a:schemeClr val="accent3"/>
                  </a:solidFill>
                </a:rPr>
                <a:t>Monte Carlo simulation tests the portfolio under hundreds of plausible interest rate futures — the tool risk managers use to understand worst-case exposure.</a:t>
              </a:r>
            </a:p>
          </p:txBody>
        </p:sp>
        <p:sp>
          <p:nvSpPr>
            <p:cNvPr id="16" name="Text 8">
              <a:extLst>
                <a:ext uri="{FF2B5EF4-FFF2-40B4-BE49-F238E27FC236}">
                  <a16:creationId xmlns:a16="http://schemas.microsoft.com/office/drawing/2014/main" id="{51FB078D-0AC9-ACAC-44BB-C4E4719318E5}"/>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02</a:t>
              </a:r>
              <a:endParaRPr lang="en-US" sz="2800" dirty="0">
                <a:solidFill>
                  <a:schemeClr val="accent1"/>
                </a:solidFill>
              </a:endParaRPr>
            </a:p>
          </p:txBody>
        </p:sp>
      </p:grpSp>
      <p:grpSp>
        <p:nvGrpSpPr>
          <p:cNvPr id="17" name="Groep 16">
            <a:extLst>
              <a:ext uri="{FF2B5EF4-FFF2-40B4-BE49-F238E27FC236}">
                <a16:creationId xmlns:a16="http://schemas.microsoft.com/office/drawing/2014/main" id="{EE7B137D-72C5-7944-1199-5F001DA0A8F0}"/>
              </a:ext>
            </a:extLst>
          </p:cNvPr>
          <p:cNvGrpSpPr/>
          <p:nvPr/>
        </p:nvGrpSpPr>
        <p:grpSpPr>
          <a:xfrm>
            <a:off x="6159143" y="1576015"/>
            <a:ext cx="2468880" cy="2122843"/>
            <a:chOff x="5853953" y="1717637"/>
            <a:chExt cx="2239922" cy="2194560"/>
          </a:xfrm>
        </p:grpSpPr>
        <p:sp>
          <p:nvSpPr>
            <p:cNvPr id="18" name="Shape 4">
              <a:extLst>
                <a:ext uri="{FF2B5EF4-FFF2-40B4-BE49-F238E27FC236}">
                  <a16:creationId xmlns:a16="http://schemas.microsoft.com/office/drawing/2014/main" id="{38AAD2EE-69D6-CBFD-4E9E-7343A56C2649}"/>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9" name="Shape 5">
              <a:extLst>
                <a:ext uri="{FF2B5EF4-FFF2-40B4-BE49-F238E27FC236}">
                  <a16:creationId xmlns:a16="http://schemas.microsoft.com/office/drawing/2014/main" id="{9DBD7AB9-6974-0BC8-63D3-ED5D49DADE59}"/>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20" name="Text 6">
              <a:extLst>
                <a:ext uri="{FF2B5EF4-FFF2-40B4-BE49-F238E27FC236}">
                  <a16:creationId xmlns:a16="http://schemas.microsoft.com/office/drawing/2014/main" id="{AA017167-4CA9-4E30-3BFA-4C95DFBB9C81}"/>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100 Million Runs</a:t>
              </a:r>
              <a:endParaRPr lang="en-US" sz="1400" dirty="0">
                <a:solidFill>
                  <a:schemeClr val="bg2"/>
                </a:solidFill>
              </a:endParaRPr>
            </a:p>
          </p:txBody>
        </p:sp>
        <p:sp>
          <p:nvSpPr>
            <p:cNvPr id="21" name="Text 7">
              <a:extLst>
                <a:ext uri="{FF2B5EF4-FFF2-40B4-BE49-F238E27FC236}">
                  <a16:creationId xmlns:a16="http://schemas.microsoft.com/office/drawing/2014/main" id="{E12E2C3F-7257-3CF1-E3E5-30F864D03A19}"/>
                </a:ext>
              </a:extLst>
            </p:cNvPr>
            <p:cNvSpPr/>
            <p:nvPr/>
          </p:nvSpPr>
          <p:spPr>
            <a:xfrm>
              <a:off x="5935438" y="2490647"/>
              <a:ext cx="2012133" cy="822960"/>
            </a:xfrm>
            <a:prstGeom prst="rect">
              <a:avLst/>
            </a:prstGeom>
            <a:noFill/>
            <a:ln/>
          </p:spPr>
          <p:txBody>
            <a:bodyPr wrap="square" rtlCol="0" anchor="ctr"/>
            <a:lstStyle/>
            <a:p>
              <a:pPr>
                <a:lnSpc>
                  <a:spcPct val="140000"/>
                </a:lnSpc>
              </a:pPr>
              <a:r>
                <a:rPr lang="en-US" sz="1100" dirty="0">
                  <a:solidFill>
                    <a:schemeClr val="accent3"/>
                  </a:solidFill>
                </a:rPr>
                <a:t>100K contracts × 1K scenarios = 100 million individual test runs. The single-lane Java reference implementation processes one at a time. The highway runs them all simultaneously.</a:t>
              </a:r>
            </a:p>
          </p:txBody>
        </p:sp>
        <p:sp>
          <p:nvSpPr>
            <p:cNvPr id="22" name="Text 8">
              <a:extLst>
                <a:ext uri="{FF2B5EF4-FFF2-40B4-BE49-F238E27FC236}">
                  <a16:creationId xmlns:a16="http://schemas.microsoft.com/office/drawing/2014/main" id="{1952DFBE-D74D-32B6-B3BE-C558D33BECB7}"/>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03</a:t>
              </a:r>
              <a:endParaRPr lang="en-US" sz="2800" dirty="0">
                <a:solidFill>
                  <a:schemeClr val="accent1"/>
                </a:solidFill>
              </a:endParaRPr>
            </a:p>
          </p:txBody>
        </p:sp>
      </p:grpSp>
    </p:spTree>
    <p:extLst>
      <p:ext uri="{BB962C8B-B14F-4D97-AF65-F5344CB8AC3E}">
        <p14:creationId xmlns:p14="http://schemas.microsoft.com/office/powerpoint/2010/main" val="2257245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CAFB3-6A73-0338-686C-5FF40A17B7A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626272-9331-4754-03FD-D3ECE7B28BCC}"/>
              </a:ext>
            </a:extLst>
          </p:cNvPr>
          <p:cNvSpPr>
            <a:spLocks noGrp="1"/>
          </p:cNvSpPr>
          <p:nvPr>
            <p:ph type="title"/>
          </p:nvPr>
        </p:nvSpPr>
        <p:spPr/>
        <p:txBody>
          <a:bodyPr/>
          <a:lstStyle/>
          <a:p>
            <a:r>
              <a:rPr lang="en-US" dirty="0"/>
              <a:t>The Architecture: CPU vs GPU</a:t>
            </a:r>
          </a:p>
        </p:txBody>
      </p:sp>
      <p:sp>
        <p:nvSpPr>
          <p:cNvPr id="200" name="s200"/>
          <p:cNvSpPr/>
          <p:nvPr/>
        </p:nvSpPr>
        <p:spPr>
          <a:xfrm>
            <a:off x="217714" y="1012371"/>
            <a:ext cx="4181475" cy="3638550"/>
          </a:xfrm>
          <a:prstGeom prst="rect">
            <a:avLst/>
          </a:prstGeom>
          <a:solidFill>
            <a:schemeClr val="dk2"/>
          </a:solidFill>
          <a:ln>
            <a:noFill/>
          </a:ln>
          <a:effectLst>
            <a:outerShdw blurRad="50800" dist="12700" dir="5400000" algn="bl" rotWithShape="0">
              <a:srgbClr val="000000">
                <a:alpha val="6000"/>
              </a:srgbClr>
            </a:outerShdw>
          </a:effectLst>
        </p:spPr>
        <p:txBody>
          <a:bodyPr wrap="square" rtlCol="0" anchor="ctr"/>
          <a:lstStyle/>
          <a:p>
            <a:endParaRPr lang="en-US" sz="100"/>
          </a:p>
        </p:txBody>
      </p:sp>
      <p:sp>
        <p:nvSpPr>
          <p:cNvPr id="201" name="s201"/>
          <p:cNvSpPr/>
          <p:nvPr/>
        </p:nvSpPr>
        <p:spPr>
          <a:xfrm>
            <a:off x="217714" y="1012371"/>
            <a:ext cx="4181475" cy="47625"/>
          </a:xfrm>
          <a:prstGeom prst="rect">
            <a:avLst/>
          </a:prstGeom>
          <a:solidFill>
            <a:schemeClr val="accent1"/>
          </a:solidFill>
          <a:ln>
            <a:noFill/>
          </a:ln>
        </p:spPr>
        <p:txBody>
          <a:bodyPr wrap="square" rtlCol="0" anchor="ctr"/>
          <a:lstStyle/>
          <a:p>
            <a:endParaRPr lang="en-US" sz="100"/>
          </a:p>
        </p:txBody>
      </p:sp>
      <p:sp>
        <p:nvSpPr>
          <p:cNvPr id="202" name="s202"/>
          <p:cNvSpPr/>
          <p:nvPr/>
        </p:nvSpPr>
        <p:spPr>
          <a:xfrm>
            <a:off x="370114" y="1145721"/>
            <a:ext cx="3876675" cy="247650"/>
          </a:xfrm>
          <a:prstGeom prst="rect">
            <a:avLst/>
          </a:prstGeom>
          <a:noFill/>
          <a:ln>
            <a:noFill/>
          </a:ln>
        </p:spPr>
        <p:txBody>
          <a:bodyPr wrap="square" rtlCol="0" anchor="ctr"/>
          <a:lstStyle/>
          <a:p>
            <a:pPr algn="l"/>
            <a:r>
              <a:rPr lang="en-US" sz="1350" b="1" dirty="0">
                <a:solidFill>
                  <a:schemeClr val="lt2"/>
                </a:solidFill>
                <a:latin typeface="Aptos Black"/>
              </a:rPr>
              <a:t>CPU: 8 Parallel Tracks</a:t>
            </a:r>
          </a:p>
        </p:txBody>
      </p:sp>
      <p:sp>
        <p:nvSpPr>
          <p:cNvPr id="203" name="s203"/>
          <p:cNvSpPr/>
          <p:nvPr/>
        </p:nvSpPr>
        <p:spPr>
          <a:xfrm>
            <a:off x="370114" y="1393371"/>
            <a:ext cx="3876675" cy="171450"/>
          </a:xfrm>
          <a:prstGeom prst="rect">
            <a:avLst/>
          </a:prstGeom>
          <a:noFill/>
          <a:ln>
            <a:noFill/>
          </a:ln>
        </p:spPr>
        <p:txBody>
          <a:bodyPr wrap="none" rtlCol="0" anchor="t"/>
          <a:lstStyle/>
          <a:p>
            <a:pPr algn="l"/>
            <a:r>
              <a:rPr lang="en-US" sz="1050" dirty="0">
                <a:solidFill>
                  <a:schemeClr val="lt2">
                    <a:alpha val="60000"/>
                  </a:schemeClr>
                </a:solidFill>
              </a:rPr>
              <a:t>8 cores processing contracts in parallel. Great for small portfolios, but limited by core count.</a:t>
            </a:r>
          </a:p>
        </p:txBody>
      </p:sp>
      <p:sp>
        <p:nvSpPr>
          <p:cNvPr id="204" name="s204"/>
          <p:cNvSpPr/>
          <p:nvPr/>
        </p:nvSpPr>
        <p:spPr>
          <a:xfrm>
            <a:off x="3637189" y="4269921"/>
            <a:ext cx="666750" cy="323850"/>
          </a:xfrm>
          <a:prstGeom prst="rect">
            <a:avLst/>
          </a:prstGeom>
          <a:noFill/>
          <a:ln>
            <a:noFill/>
          </a:ln>
        </p:spPr>
        <p:txBody>
          <a:bodyPr wrap="square" rtlCol="0" anchor="ctr"/>
          <a:lstStyle/>
          <a:p>
            <a:pPr algn="r"/>
            <a:r>
              <a:rPr lang="en-US" b="1" dirty="0">
                <a:solidFill>
                  <a:schemeClr val="accent1">
                    <a:alpha val="22000"/>
                  </a:schemeClr>
                </a:solidFill>
                <a:latin typeface="Aptos Black"/>
              </a:rPr>
              <a:t>AoS</a:t>
            </a:r>
          </a:p>
        </p:txBody>
      </p:sp>
      <p:sp>
        <p:nvSpPr>
          <p:cNvPr id="205" name="s205"/>
          <p:cNvSpPr/>
          <p:nvPr/>
        </p:nvSpPr>
        <p:spPr>
          <a:xfrm>
            <a:off x="370114" y="1755321"/>
            <a:ext cx="38100" cy="419100"/>
          </a:xfrm>
          <a:prstGeom prst="rect">
            <a:avLst/>
          </a:prstGeom>
          <a:solidFill>
            <a:schemeClr val="accent1"/>
          </a:solidFill>
          <a:ln>
            <a:noFill/>
          </a:ln>
        </p:spPr>
        <p:txBody>
          <a:bodyPr wrap="square" rtlCol="0" anchor="ctr"/>
          <a:lstStyle/>
          <a:p>
            <a:endParaRPr lang="en-US" sz="100"/>
          </a:p>
        </p:txBody>
      </p:sp>
      <p:sp>
        <p:nvSpPr>
          <p:cNvPr id="206" name="s206"/>
          <p:cNvSpPr/>
          <p:nvPr/>
        </p:nvSpPr>
        <p:spPr>
          <a:xfrm>
            <a:off x="446314" y="1679121"/>
            <a:ext cx="904875" cy="571500"/>
          </a:xfrm>
          <a:prstGeom prst="rect">
            <a:avLst/>
          </a:prstGeom>
          <a:noFill/>
          <a:ln>
            <a:noFill/>
          </a:ln>
        </p:spPr>
        <p:txBody>
          <a:bodyPr wrap="none" rtlCol="0" anchor="ctr"/>
          <a:lstStyle/>
          <a:p>
            <a:pPr algn="l"/>
            <a:r>
              <a:rPr lang="en-US" sz="1050" dirty="0">
                <a:solidFill>
                  <a:schemeClr val="lt2">
                    <a:alpha val="70000"/>
                  </a:schemeClr>
                </a:solidFill>
              </a:rPr>
              <a:t>Contract[0]</a:t>
            </a:r>
          </a:p>
        </p:txBody>
      </p:sp>
      <p:sp>
        <p:nvSpPr>
          <p:cNvPr id="207" name="s207"/>
          <p:cNvSpPr/>
          <p:nvPr/>
        </p:nvSpPr>
        <p:spPr>
          <a:xfrm>
            <a:off x="1427389"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08" name="s208"/>
          <p:cNvSpPr/>
          <p:nvPr/>
        </p:nvSpPr>
        <p:spPr>
          <a:xfrm>
            <a:off x="2139383" y="17267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09" name="s209"/>
          <p:cNvSpPr/>
          <p:nvPr/>
        </p:nvSpPr>
        <p:spPr>
          <a:xfrm>
            <a:off x="2851377" y="17267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10" name="s210"/>
          <p:cNvSpPr/>
          <p:nvPr/>
        </p:nvSpPr>
        <p:spPr>
          <a:xfrm>
            <a:off x="3563370" y="17267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11" name="s211"/>
          <p:cNvSpPr/>
          <p:nvPr/>
        </p:nvSpPr>
        <p:spPr>
          <a:xfrm>
            <a:off x="370114" y="2403021"/>
            <a:ext cx="38100" cy="419100"/>
          </a:xfrm>
          <a:prstGeom prst="rect">
            <a:avLst/>
          </a:prstGeom>
          <a:solidFill>
            <a:schemeClr val="accent1"/>
          </a:solidFill>
          <a:ln>
            <a:noFill/>
          </a:ln>
        </p:spPr>
        <p:txBody>
          <a:bodyPr wrap="square" rtlCol="0" anchor="ctr"/>
          <a:lstStyle/>
          <a:p>
            <a:endParaRPr lang="en-US" sz="100"/>
          </a:p>
        </p:txBody>
      </p:sp>
      <p:sp>
        <p:nvSpPr>
          <p:cNvPr id="212" name="s212"/>
          <p:cNvSpPr/>
          <p:nvPr/>
        </p:nvSpPr>
        <p:spPr>
          <a:xfrm>
            <a:off x="446314" y="2326821"/>
            <a:ext cx="904875" cy="571500"/>
          </a:xfrm>
          <a:prstGeom prst="rect">
            <a:avLst/>
          </a:prstGeom>
          <a:noFill/>
          <a:ln>
            <a:noFill/>
          </a:ln>
        </p:spPr>
        <p:txBody>
          <a:bodyPr wrap="none" rtlCol="0" anchor="ctr"/>
          <a:lstStyle/>
          <a:p>
            <a:pPr algn="l"/>
            <a:r>
              <a:rPr lang="en-US" sz="1050" dirty="0">
                <a:solidFill>
                  <a:schemeClr val="lt2">
                    <a:alpha val="70000"/>
                  </a:schemeClr>
                </a:solidFill>
              </a:rPr>
              <a:t>Contract[1]</a:t>
            </a:r>
          </a:p>
        </p:txBody>
      </p:sp>
      <p:sp>
        <p:nvSpPr>
          <p:cNvPr id="213" name="s213"/>
          <p:cNvSpPr/>
          <p:nvPr/>
        </p:nvSpPr>
        <p:spPr>
          <a:xfrm>
            <a:off x="1427389" y="23744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14" name="s214"/>
          <p:cNvSpPr/>
          <p:nvPr/>
        </p:nvSpPr>
        <p:spPr>
          <a:xfrm>
            <a:off x="2139383"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15" name="s215"/>
          <p:cNvSpPr/>
          <p:nvPr/>
        </p:nvSpPr>
        <p:spPr>
          <a:xfrm>
            <a:off x="2851377" y="23744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16" name="s216"/>
          <p:cNvSpPr/>
          <p:nvPr/>
        </p:nvSpPr>
        <p:spPr>
          <a:xfrm>
            <a:off x="3563370" y="23744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17" name="s217"/>
          <p:cNvSpPr/>
          <p:nvPr/>
        </p:nvSpPr>
        <p:spPr>
          <a:xfrm>
            <a:off x="370114" y="3050721"/>
            <a:ext cx="38100" cy="419100"/>
          </a:xfrm>
          <a:prstGeom prst="rect">
            <a:avLst/>
          </a:prstGeom>
          <a:solidFill>
            <a:schemeClr val="accent1"/>
          </a:solidFill>
          <a:ln>
            <a:noFill/>
          </a:ln>
        </p:spPr>
        <p:txBody>
          <a:bodyPr wrap="square" rtlCol="0" anchor="ctr"/>
          <a:lstStyle/>
          <a:p>
            <a:endParaRPr lang="en-US" sz="100"/>
          </a:p>
        </p:txBody>
      </p:sp>
      <p:sp>
        <p:nvSpPr>
          <p:cNvPr id="218" name="s218"/>
          <p:cNvSpPr/>
          <p:nvPr/>
        </p:nvSpPr>
        <p:spPr>
          <a:xfrm>
            <a:off x="446314" y="2974521"/>
            <a:ext cx="904875" cy="571500"/>
          </a:xfrm>
          <a:prstGeom prst="rect">
            <a:avLst/>
          </a:prstGeom>
          <a:noFill/>
          <a:ln>
            <a:noFill/>
          </a:ln>
        </p:spPr>
        <p:txBody>
          <a:bodyPr wrap="none" rtlCol="0" anchor="ctr"/>
          <a:lstStyle/>
          <a:p>
            <a:pPr algn="l"/>
            <a:r>
              <a:rPr lang="en-US" sz="1050" dirty="0">
                <a:solidFill>
                  <a:schemeClr val="lt2">
                    <a:alpha val="70000"/>
                  </a:schemeClr>
                </a:solidFill>
              </a:rPr>
              <a:t>Contract[2]</a:t>
            </a:r>
          </a:p>
        </p:txBody>
      </p:sp>
      <p:sp>
        <p:nvSpPr>
          <p:cNvPr id="219" name="s219"/>
          <p:cNvSpPr/>
          <p:nvPr/>
        </p:nvSpPr>
        <p:spPr>
          <a:xfrm>
            <a:off x="1427389" y="30221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20" name="s220"/>
          <p:cNvSpPr/>
          <p:nvPr/>
        </p:nvSpPr>
        <p:spPr>
          <a:xfrm>
            <a:off x="2139383" y="30221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21" name="s221"/>
          <p:cNvSpPr/>
          <p:nvPr/>
        </p:nvSpPr>
        <p:spPr>
          <a:xfrm>
            <a:off x="2851377"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22" name="s222"/>
          <p:cNvSpPr/>
          <p:nvPr/>
        </p:nvSpPr>
        <p:spPr>
          <a:xfrm>
            <a:off x="3563370" y="30221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23" name="s223"/>
          <p:cNvSpPr/>
          <p:nvPr/>
        </p:nvSpPr>
        <p:spPr>
          <a:xfrm>
            <a:off x="370114" y="3698421"/>
            <a:ext cx="38100" cy="419100"/>
          </a:xfrm>
          <a:prstGeom prst="rect">
            <a:avLst/>
          </a:prstGeom>
          <a:solidFill>
            <a:schemeClr val="accent1"/>
          </a:solidFill>
          <a:ln>
            <a:noFill/>
          </a:ln>
        </p:spPr>
        <p:txBody>
          <a:bodyPr wrap="square" rtlCol="0" anchor="ctr"/>
          <a:lstStyle/>
          <a:p>
            <a:endParaRPr lang="en-US" sz="100"/>
          </a:p>
        </p:txBody>
      </p:sp>
      <p:sp>
        <p:nvSpPr>
          <p:cNvPr id="224" name="s224"/>
          <p:cNvSpPr/>
          <p:nvPr/>
        </p:nvSpPr>
        <p:spPr>
          <a:xfrm>
            <a:off x="446314" y="3622221"/>
            <a:ext cx="904875" cy="571500"/>
          </a:xfrm>
          <a:prstGeom prst="rect">
            <a:avLst/>
          </a:prstGeom>
          <a:noFill/>
          <a:ln>
            <a:noFill/>
          </a:ln>
        </p:spPr>
        <p:txBody>
          <a:bodyPr wrap="none" rtlCol="0" anchor="ctr"/>
          <a:lstStyle/>
          <a:p>
            <a:pPr algn="l"/>
            <a:r>
              <a:rPr lang="en-US" sz="1050" dirty="0">
                <a:solidFill>
                  <a:schemeClr val="lt2">
                    <a:alpha val="70000"/>
                  </a:schemeClr>
                </a:solidFill>
              </a:rPr>
              <a:t>Contract[3]</a:t>
            </a:r>
          </a:p>
        </p:txBody>
      </p:sp>
      <p:sp>
        <p:nvSpPr>
          <p:cNvPr id="225" name="s225"/>
          <p:cNvSpPr/>
          <p:nvPr/>
        </p:nvSpPr>
        <p:spPr>
          <a:xfrm>
            <a:off x="1427389" y="36698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26" name="s226"/>
          <p:cNvSpPr/>
          <p:nvPr/>
        </p:nvSpPr>
        <p:spPr>
          <a:xfrm>
            <a:off x="2139383" y="36698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27" name="s227"/>
          <p:cNvSpPr/>
          <p:nvPr/>
        </p:nvSpPr>
        <p:spPr>
          <a:xfrm>
            <a:off x="2851377" y="36698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28" name="s228"/>
          <p:cNvSpPr/>
          <p:nvPr/>
        </p:nvSpPr>
        <p:spPr>
          <a:xfrm>
            <a:off x="3563370"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29" name="s229"/>
          <p:cNvSpPr/>
          <p:nvPr/>
        </p:nvSpPr>
        <p:spPr>
          <a:xfrm>
            <a:off x="4761139" y="1012371"/>
            <a:ext cx="4181475" cy="3638550"/>
          </a:xfrm>
          <a:prstGeom prst="rect">
            <a:avLst/>
          </a:prstGeom>
          <a:solidFill>
            <a:schemeClr val="dk2"/>
          </a:solidFill>
          <a:ln>
            <a:noFill/>
          </a:ln>
          <a:effectLst>
            <a:outerShdw blurRad="50800" dist="12700" dir="5400000" algn="bl" rotWithShape="0">
              <a:srgbClr val="000000">
                <a:alpha val="6000"/>
              </a:srgbClr>
            </a:outerShdw>
          </a:effectLst>
        </p:spPr>
        <p:txBody>
          <a:bodyPr wrap="square" rtlCol="0" anchor="ctr"/>
          <a:lstStyle/>
          <a:p>
            <a:endParaRPr lang="en-US" sz="100"/>
          </a:p>
        </p:txBody>
      </p:sp>
      <p:sp>
        <p:nvSpPr>
          <p:cNvPr id="230" name="s230"/>
          <p:cNvSpPr/>
          <p:nvPr/>
        </p:nvSpPr>
        <p:spPr>
          <a:xfrm>
            <a:off x="4761139" y="1012371"/>
            <a:ext cx="4181475" cy="47625"/>
          </a:xfrm>
          <a:prstGeom prst="rect">
            <a:avLst/>
          </a:prstGeom>
          <a:solidFill>
            <a:schemeClr val="accent1"/>
          </a:solidFill>
          <a:ln>
            <a:noFill/>
          </a:ln>
        </p:spPr>
        <p:txBody>
          <a:bodyPr wrap="square" rtlCol="0" anchor="ctr"/>
          <a:lstStyle/>
          <a:p>
            <a:endParaRPr lang="en-US" sz="100"/>
          </a:p>
        </p:txBody>
      </p:sp>
      <p:sp>
        <p:nvSpPr>
          <p:cNvPr id="231" name="s231"/>
          <p:cNvSpPr/>
          <p:nvPr/>
        </p:nvSpPr>
        <p:spPr>
          <a:xfrm>
            <a:off x="4913539" y="1145721"/>
            <a:ext cx="3876675" cy="247650"/>
          </a:xfrm>
          <a:prstGeom prst="rect">
            <a:avLst/>
          </a:prstGeom>
          <a:noFill/>
          <a:ln>
            <a:noFill/>
          </a:ln>
        </p:spPr>
        <p:txBody>
          <a:bodyPr wrap="square" rtlCol="0" anchor="ctr"/>
          <a:lstStyle/>
          <a:p>
            <a:pPr algn="l"/>
            <a:r>
              <a:rPr lang="en-US" sz="1350" b="1" dirty="0">
                <a:solidFill>
                  <a:schemeClr val="lt2"/>
                </a:solidFill>
                <a:latin typeface="Aptos Black"/>
              </a:rPr>
              <a:t>GPU: 1,000-Lane Highway</a:t>
            </a:r>
          </a:p>
        </p:txBody>
      </p:sp>
      <p:sp>
        <p:nvSpPr>
          <p:cNvPr id="232" name="s232"/>
          <p:cNvSpPr/>
          <p:nvPr/>
        </p:nvSpPr>
        <p:spPr>
          <a:xfrm>
            <a:off x="4913539" y="1393371"/>
            <a:ext cx="3876675" cy="171450"/>
          </a:xfrm>
          <a:prstGeom prst="rect">
            <a:avLst/>
          </a:prstGeom>
          <a:noFill/>
          <a:ln>
            <a:noFill/>
          </a:ln>
        </p:spPr>
        <p:txBody>
          <a:bodyPr wrap="none" rtlCol="0" anchor="t"/>
          <a:lstStyle/>
          <a:p>
            <a:pPr algn="l"/>
            <a:r>
              <a:rPr lang="en-US" sz="1050" dirty="0">
                <a:solidFill>
                  <a:schemeClr val="lt2">
                    <a:alpha val="60000"/>
                  </a:schemeClr>
                </a:solidFill>
              </a:rPr>
              <a:t>Thousands of GPU threads — each contract runs in its own lane simultaneously. 100K contracts run at once.</a:t>
            </a:r>
          </a:p>
        </p:txBody>
      </p:sp>
      <p:sp>
        <p:nvSpPr>
          <p:cNvPr id="233" name="s233"/>
          <p:cNvSpPr/>
          <p:nvPr/>
        </p:nvSpPr>
        <p:spPr>
          <a:xfrm>
            <a:off x="8180614" y="4269921"/>
            <a:ext cx="666750" cy="323850"/>
          </a:xfrm>
          <a:prstGeom prst="rect">
            <a:avLst/>
          </a:prstGeom>
          <a:noFill/>
          <a:ln>
            <a:noFill/>
          </a:ln>
        </p:spPr>
        <p:txBody>
          <a:bodyPr wrap="square" rtlCol="0" anchor="ctr"/>
          <a:lstStyle/>
          <a:p>
            <a:pPr algn="r"/>
            <a:r>
              <a:rPr lang="en-US" b="1" dirty="0">
                <a:solidFill>
                  <a:schemeClr val="accent1">
                    <a:alpha val="22000"/>
                  </a:schemeClr>
                </a:solidFill>
                <a:latin typeface="Aptos Black"/>
              </a:rPr>
              <a:t>SoA</a:t>
            </a:r>
          </a:p>
        </p:txBody>
      </p:sp>
      <p:sp>
        <p:nvSpPr>
          <p:cNvPr id="234" name="s234"/>
          <p:cNvSpPr/>
          <p:nvPr/>
        </p:nvSpPr>
        <p:spPr>
          <a:xfrm>
            <a:off x="4913539" y="1755321"/>
            <a:ext cx="38100" cy="419100"/>
          </a:xfrm>
          <a:prstGeom prst="rect">
            <a:avLst/>
          </a:prstGeom>
          <a:solidFill>
            <a:schemeClr val="accent1"/>
          </a:solidFill>
          <a:ln>
            <a:noFill/>
          </a:ln>
        </p:spPr>
        <p:txBody>
          <a:bodyPr wrap="square" rtlCol="0" anchor="ctr"/>
          <a:lstStyle/>
          <a:p>
            <a:endParaRPr lang="en-US" sz="100"/>
          </a:p>
        </p:txBody>
      </p:sp>
      <p:sp>
        <p:nvSpPr>
          <p:cNvPr id="235" name="s235"/>
          <p:cNvSpPr/>
          <p:nvPr/>
        </p:nvSpPr>
        <p:spPr>
          <a:xfrm>
            <a:off x="4989739" y="1679121"/>
            <a:ext cx="904875" cy="571500"/>
          </a:xfrm>
          <a:prstGeom prst="rect">
            <a:avLst/>
          </a:prstGeom>
          <a:noFill/>
          <a:ln>
            <a:noFill/>
          </a:ln>
        </p:spPr>
        <p:txBody>
          <a:bodyPr wrap="none" rtlCol="0" anchor="ctr"/>
          <a:lstStyle/>
          <a:p>
            <a:pPr algn="l"/>
            <a:r>
              <a:rPr lang="en-US" sz="1050" dirty="0">
                <a:solidFill>
                  <a:schemeClr val="lt2">
                    <a:alpha val="70000"/>
                  </a:schemeClr>
                </a:solidFill>
              </a:rPr>
              <a:t>id[]</a:t>
            </a:r>
          </a:p>
        </p:txBody>
      </p:sp>
      <p:sp>
        <p:nvSpPr>
          <p:cNvPr id="236" name="s236"/>
          <p:cNvSpPr/>
          <p:nvPr/>
        </p:nvSpPr>
        <p:spPr>
          <a:xfrm>
            <a:off x="5970814"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37" name="s237"/>
          <p:cNvSpPr/>
          <p:nvPr/>
        </p:nvSpPr>
        <p:spPr>
          <a:xfrm>
            <a:off x="6682808"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38" name="s238"/>
          <p:cNvSpPr/>
          <p:nvPr/>
        </p:nvSpPr>
        <p:spPr>
          <a:xfrm>
            <a:off x="7394802"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39" name="s239"/>
          <p:cNvSpPr/>
          <p:nvPr/>
        </p:nvSpPr>
        <p:spPr>
          <a:xfrm>
            <a:off x="8106795"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sp>
        <p:nvSpPr>
          <p:cNvPr id="240" name="s240"/>
          <p:cNvSpPr/>
          <p:nvPr/>
        </p:nvSpPr>
        <p:spPr>
          <a:xfrm>
            <a:off x="4913539" y="2403021"/>
            <a:ext cx="38100" cy="419100"/>
          </a:xfrm>
          <a:prstGeom prst="rect">
            <a:avLst/>
          </a:prstGeom>
          <a:solidFill>
            <a:schemeClr val="accent1"/>
          </a:solidFill>
          <a:ln>
            <a:noFill/>
          </a:ln>
        </p:spPr>
        <p:txBody>
          <a:bodyPr wrap="square" rtlCol="0" anchor="ctr"/>
          <a:lstStyle/>
          <a:p>
            <a:endParaRPr lang="en-US" sz="100"/>
          </a:p>
        </p:txBody>
      </p:sp>
      <p:sp>
        <p:nvSpPr>
          <p:cNvPr id="241" name="s241"/>
          <p:cNvSpPr/>
          <p:nvPr/>
        </p:nvSpPr>
        <p:spPr>
          <a:xfrm>
            <a:off x="4989739" y="2326821"/>
            <a:ext cx="904875" cy="571500"/>
          </a:xfrm>
          <a:prstGeom prst="rect">
            <a:avLst/>
          </a:prstGeom>
          <a:noFill/>
          <a:ln>
            <a:noFill/>
          </a:ln>
        </p:spPr>
        <p:txBody>
          <a:bodyPr wrap="none" rtlCol="0" anchor="ctr"/>
          <a:lstStyle/>
          <a:p>
            <a:pPr algn="l"/>
            <a:r>
              <a:rPr lang="en-US" sz="1050" dirty="0">
                <a:solidFill>
                  <a:schemeClr val="lt2">
                    <a:alpha val="70000"/>
                  </a:schemeClr>
                </a:solidFill>
              </a:rPr>
              <a:t>premium[]</a:t>
            </a:r>
          </a:p>
        </p:txBody>
      </p:sp>
      <p:sp>
        <p:nvSpPr>
          <p:cNvPr id="242" name="s242"/>
          <p:cNvSpPr/>
          <p:nvPr/>
        </p:nvSpPr>
        <p:spPr>
          <a:xfrm>
            <a:off x="5970814"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43" name="s243"/>
          <p:cNvSpPr/>
          <p:nvPr/>
        </p:nvSpPr>
        <p:spPr>
          <a:xfrm>
            <a:off x="6682808"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44" name="s244"/>
          <p:cNvSpPr/>
          <p:nvPr/>
        </p:nvSpPr>
        <p:spPr>
          <a:xfrm>
            <a:off x="7394802"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45" name="s245"/>
          <p:cNvSpPr/>
          <p:nvPr/>
        </p:nvSpPr>
        <p:spPr>
          <a:xfrm>
            <a:off x="8106795"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sp>
        <p:nvSpPr>
          <p:cNvPr id="246" name="s246"/>
          <p:cNvSpPr/>
          <p:nvPr/>
        </p:nvSpPr>
        <p:spPr>
          <a:xfrm>
            <a:off x="4913539" y="3050721"/>
            <a:ext cx="38100" cy="419100"/>
          </a:xfrm>
          <a:prstGeom prst="rect">
            <a:avLst/>
          </a:prstGeom>
          <a:solidFill>
            <a:schemeClr val="accent1"/>
          </a:solidFill>
          <a:ln>
            <a:noFill/>
          </a:ln>
        </p:spPr>
        <p:txBody>
          <a:bodyPr wrap="square" rtlCol="0" anchor="ctr"/>
          <a:lstStyle/>
          <a:p>
            <a:endParaRPr lang="en-US" sz="100"/>
          </a:p>
        </p:txBody>
      </p:sp>
      <p:sp>
        <p:nvSpPr>
          <p:cNvPr id="247" name="s247"/>
          <p:cNvSpPr/>
          <p:nvPr/>
        </p:nvSpPr>
        <p:spPr>
          <a:xfrm>
            <a:off x="4989739" y="2974521"/>
            <a:ext cx="904875" cy="571500"/>
          </a:xfrm>
          <a:prstGeom prst="rect">
            <a:avLst/>
          </a:prstGeom>
          <a:noFill/>
          <a:ln>
            <a:noFill/>
          </a:ln>
        </p:spPr>
        <p:txBody>
          <a:bodyPr wrap="none" rtlCol="0" anchor="ctr"/>
          <a:lstStyle/>
          <a:p>
            <a:pPr algn="l"/>
            <a:r>
              <a:rPr lang="en-US" sz="1050" dirty="0">
                <a:solidFill>
                  <a:schemeClr val="lt2">
                    <a:alpha val="70000"/>
                  </a:schemeClr>
                </a:solidFill>
              </a:rPr>
              <a:t>term[]</a:t>
            </a:r>
          </a:p>
        </p:txBody>
      </p:sp>
      <p:sp>
        <p:nvSpPr>
          <p:cNvPr id="248" name="s248"/>
          <p:cNvSpPr/>
          <p:nvPr/>
        </p:nvSpPr>
        <p:spPr>
          <a:xfrm>
            <a:off x="5970814"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49" name="s249"/>
          <p:cNvSpPr/>
          <p:nvPr/>
        </p:nvSpPr>
        <p:spPr>
          <a:xfrm>
            <a:off x="6682808"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50" name="s250"/>
          <p:cNvSpPr/>
          <p:nvPr/>
        </p:nvSpPr>
        <p:spPr>
          <a:xfrm>
            <a:off x="7394802"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51" name="s251"/>
          <p:cNvSpPr/>
          <p:nvPr/>
        </p:nvSpPr>
        <p:spPr>
          <a:xfrm>
            <a:off x="8106795"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sp>
        <p:nvSpPr>
          <p:cNvPr id="252" name="s252"/>
          <p:cNvSpPr/>
          <p:nvPr/>
        </p:nvSpPr>
        <p:spPr>
          <a:xfrm>
            <a:off x="4913539" y="3698421"/>
            <a:ext cx="38100" cy="419100"/>
          </a:xfrm>
          <a:prstGeom prst="rect">
            <a:avLst/>
          </a:prstGeom>
          <a:solidFill>
            <a:schemeClr val="accent1"/>
          </a:solidFill>
          <a:ln>
            <a:noFill/>
          </a:ln>
        </p:spPr>
        <p:txBody>
          <a:bodyPr wrap="square" rtlCol="0" anchor="ctr"/>
          <a:lstStyle/>
          <a:p>
            <a:endParaRPr lang="en-US" sz="100"/>
          </a:p>
        </p:txBody>
      </p:sp>
      <p:sp>
        <p:nvSpPr>
          <p:cNvPr id="253" name="s253"/>
          <p:cNvSpPr/>
          <p:nvPr/>
        </p:nvSpPr>
        <p:spPr>
          <a:xfrm>
            <a:off x="4989739" y="3622221"/>
            <a:ext cx="904875" cy="571500"/>
          </a:xfrm>
          <a:prstGeom prst="rect">
            <a:avLst/>
          </a:prstGeom>
          <a:noFill/>
          <a:ln>
            <a:noFill/>
          </a:ln>
        </p:spPr>
        <p:txBody>
          <a:bodyPr wrap="none" rtlCol="0" anchor="ctr"/>
          <a:lstStyle/>
          <a:p>
            <a:pPr algn="l"/>
            <a:r>
              <a:rPr lang="en-US" sz="1050" dirty="0">
                <a:solidFill>
                  <a:schemeClr val="lt2">
                    <a:alpha val="70000"/>
                  </a:schemeClr>
                </a:solidFill>
              </a:rPr>
              <a:t>risk[]</a:t>
            </a:r>
          </a:p>
        </p:txBody>
      </p:sp>
      <p:sp>
        <p:nvSpPr>
          <p:cNvPr id="254" name="s254"/>
          <p:cNvSpPr/>
          <p:nvPr/>
        </p:nvSpPr>
        <p:spPr>
          <a:xfrm>
            <a:off x="5970814"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55" name="s255"/>
          <p:cNvSpPr/>
          <p:nvPr/>
        </p:nvSpPr>
        <p:spPr>
          <a:xfrm>
            <a:off x="6682808"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56" name="s256"/>
          <p:cNvSpPr/>
          <p:nvPr/>
        </p:nvSpPr>
        <p:spPr>
          <a:xfrm>
            <a:off x="7394802"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57" name="s257"/>
          <p:cNvSpPr/>
          <p:nvPr/>
        </p:nvSpPr>
        <p:spPr>
          <a:xfrm>
            <a:off x="8106795"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grpSp>
        <p:nvGrpSpPr>
          <p:cNvPr id="3" name="Groep 2">
            <a:extLst>
              <a:ext uri="{FF2B5EF4-FFF2-40B4-BE49-F238E27FC236}">
                <a16:creationId xmlns:a16="http://schemas.microsoft.com/office/drawing/2014/main" id="{D25E8D7B-7CC5-FD8A-FEA6-51F4FEB91528}"/>
              </a:ext>
            </a:extLst>
          </p:cNvPr>
          <p:cNvGrpSpPr/>
          <p:nvPr/>
        </p:nvGrpSpPr>
        <p:grpSpPr>
          <a:xfrm>
            <a:off x="361950" y="4782911"/>
            <a:ext cx="5391150" cy="247650"/>
            <a:chOff x="660400" y="6388100"/>
            <a:chExt cx="7188200" cy="330200"/>
          </a:xfrm>
        </p:grpSpPr>
        <p:sp>
          <p:nvSpPr>
            <p:cNvPr id="259" name="s259"/>
            <p:cNvSpPr/>
            <p:nvPr/>
          </p:nvSpPr>
          <p:spPr>
            <a:xfrm>
              <a:off x="660400" y="6438900"/>
              <a:ext cx="50800" cy="228600"/>
            </a:xfrm>
            <a:prstGeom prst="rect">
              <a:avLst/>
            </a:prstGeom>
            <a:solidFill>
              <a:schemeClr val="accent1"/>
            </a:solidFill>
            <a:ln>
              <a:noFill/>
            </a:ln>
          </p:spPr>
          <p:txBody>
            <a:bodyPr wrap="square" rtlCol="0" anchor="ctr"/>
            <a:lstStyle/>
            <a:p>
              <a:endParaRPr lang="en-US" sz="100"/>
            </a:p>
          </p:txBody>
        </p:sp>
        <p:sp>
          <p:nvSpPr>
            <p:cNvPr id="260" name="s260"/>
            <p:cNvSpPr/>
            <p:nvPr/>
          </p:nvSpPr>
          <p:spPr>
            <a:xfrm>
              <a:off x="736600" y="6388100"/>
              <a:ext cx="7112000" cy="330200"/>
            </a:xfrm>
            <a:prstGeom prst="rect">
              <a:avLst/>
            </a:prstGeom>
            <a:noFill/>
            <a:ln>
              <a:noFill/>
            </a:ln>
          </p:spPr>
          <p:txBody>
            <a:bodyPr wrap="square" rtlCol="0" anchor="ctr"/>
            <a:lstStyle/>
            <a:p>
              <a:pPr algn="l"/>
              <a:r>
                <a:rPr lang="en-US" sz="1050" i="1" dirty="0">
                  <a:solidFill>
                    <a:schemeClr val="lt2">
                      <a:alpha val="60000"/>
                    </a:schemeClr>
                  </a:solidFill>
                </a:rPr>
                <a:t>For portfolios over 10,000 contracts, the GPU highway dominates. The crossover: ~5,000–10,000 contracts.</a:t>
              </a:r>
            </a:p>
          </p:txBody>
        </p:sp>
      </p:grpSp>
    </p:spTree>
    <p:extLst>
      <p:ext uri="{BB962C8B-B14F-4D97-AF65-F5344CB8AC3E}">
        <p14:creationId xmlns:p14="http://schemas.microsoft.com/office/powerpoint/2010/main" val="380029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2B6075-F8EF-BB9E-3E97-63524797FF32}"/>
              </a:ext>
            </a:extLst>
          </p:cNvPr>
          <p:cNvSpPr>
            <a:spLocks noGrp="1"/>
          </p:cNvSpPr>
          <p:nvPr>
            <p:ph type="title"/>
          </p:nvPr>
        </p:nvSpPr>
        <p:spPr/>
        <p:txBody>
          <a:bodyPr/>
          <a:lstStyle/>
          <a:p>
            <a:r>
              <a:rPr lang="en-GB" dirty="0"/>
              <a:t>Development Journey</a:t>
            </a:r>
            <a:endParaRPr lang="en-NL" dirty="0"/>
          </a:p>
        </p:txBody>
      </p:sp>
      <p:sp>
        <p:nvSpPr>
          <p:cNvPr id="8" name="Tekstvak 7">
            <a:extLst>
              <a:ext uri="{FF2B5EF4-FFF2-40B4-BE49-F238E27FC236}">
                <a16:creationId xmlns:a16="http://schemas.microsoft.com/office/drawing/2014/main" id="{A747C7D7-477D-1A2F-A601-68D9CAB92875}"/>
              </a:ext>
            </a:extLst>
          </p:cNvPr>
          <p:cNvSpPr txBox="1"/>
          <p:nvPr/>
        </p:nvSpPr>
        <p:spPr>
          <a:xfrm>
            <a:off x="4377321" y="118729"/>
            <a:ext cx="4017532" cy="507831"/>
          </a:xfrm>
          <a:prstGeom prst="rect">
            <a:avLst/>
          </a:prstGeom>
          <a:noFill/>
        </p:spPr>
        <p:txBody>
          <a:bodyPr wrap="square">
            <a:spAutoFit/>
          </a:bodyPr>
          <a:lstStyle/>
          <a:p>
            <a:endParaRPr lang="en-US" sz="1350" dirty="0"/>
          </a:p>
        </p:txBody>
      </p:sp>
      <p:grpSp>
        <p:nvGrpSpPr>
          <p:cNvPr id="9" name="Groep 8">
            <a:extLst>
              <a:ext uri="{FF2B5EF4-FFF2-40B4-BE49-F238E27FC236}">
                <a16:creationId xmlns:a16="http://schemas.microsoft.com/office/drawing/2014/main" id="{51C5275E-B5C9-DC4D-D96D-5381EC6750D4}"/>
              </a:ext>
            </a:extLst>
          </p:cNvPr>
          <p:cNvGrpSpPr/>
          <p:nvPr/>
        </p:nvGrpSpPr>
        <p:grpSpPr>
          <a:xfrm>
            <a:off x="4326676" y="1127509"/>
            <a:ext cx="2098740" cy="1732488"/>
            <a:chOff x="5853953" y="1717637"/>
            <a:chExt cx="2239922" cy="2194560"/>
          </a:xfrm>
        </p:grpSpPr>
        <p:sp>
          <p:nvSpPr>
            <p:cNvPr id="10" name="Shape 4">
              <a:extLst>
                <a:ext uri="{FF2B5EF4-FFF2-40B4-BE49-F238E27FC236}">
                  <a16:creationId xmlns:a16="http://schemas.microsoft.com/office/drawing/2014/main" id="{200E0908-F065-55B4-C8AE-A46D08949D78}"/>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1" name="Shape 5">
              <a:extLst>
                <a:ext uri="{FF2B5EF4-FFF2-40B4-BE49-F238E27FC236}">
                  <a16:creationId xmlns:a16="http://schemas.microsoft.com/office/drawing/2014/main" id="{5DE56BDE-76D6-EF9D-E6BF-71F148F9BD6B}"/>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2" name="Text 6">
              <a:extLst>
                <a:ext uri="{FF2B5EF4-FFF2-40B4-BE49-F238E27FC236}">
                  <a16:creationId xmlns:a16="http://schemas.microsoft.com/office/drawing/2014/main" id="{1C8F99A8-D28F-89E4-F582-4495CC412BCA}"/>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Foundation</a:t>
              </a:r>
            </a:p>
          </p:txBody>
        </p:sp>
        <p:sp>
          <p:nvSpPr>
            <p:cNvPr id="13" name="Text 7">
              <a:extLst>
                <a:ext uri="{FF2B5EF4-FFF2-40B4-BE49-F238E27FC236}">
                  <a16:creationId xmlns:a16="http://schemas.microsoft.com/office/drawing/2014/main" id="{5CE60DD7-33F2-7CDD-BB8E-BB4A5F88B398}"/>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Studied the ACTUS Java reference implementation. Built a new correct track in C# and certified it against all 42 official test cases.</a:t>
              </a:r>
            </a:p>
          </p:txBody>
        </p:sp>
        <p:sp>
          <p:nvSpPr>
            <p:cNvPr id="14" name="Text 8">
              <a:extLst>
                <a:ext uri="{FF2B5EF4-FFF2-40B4-BE49-F238E27FC236}">
                  <a16:creationId xmlns:a16="http://schemas.microsoft.com/office/drawing/2014/main" id="{3CB0FE64-4475-202D-F497-B2E4A8E21AAE}"/>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01</a:t>
              </a:r>
              <a:endParaRPr lang="en-US" sz="2400" dirty="0">
                <a:solidFill>
                  <a:schemeClr val="accent1"/>
                </a:solidFill>
              </a:endParaRPr>
            </a:p>
          </p:txBody>
        </p:sp>
      </p:grpSp>
      <p:grpSp>
        <p:nvGrpSpPr>
          <p:cNvPr id="15" name="Groep 14">
            <a:extLst>
              <a:ext uri="{FF2B5EF4-FFF2-40B4-BE49-F238E27FC236}">
                <a16:creationId xmlns:a16="http://schemas.microsoft.com/office/drawing/2014/main" id="{7C953152-C2A3-1E26-854E-AD02B59A234F}"/>
              </a:ext>
            </a:extLst>
          </p:cNvPr>
          <p:cNvGrpSpPr/>
          <p:nvPr/>
        </p:nvGrpSpPr>
        <p:grpSpPr>
          <a:xfrm>
            <a:off x="4326676" y="2975495"/>
            <a:ext cx="2098740" cy="1732488"/>
            <a:chOff x="5853953" y="1717637"/>
            <a:chExt cx="2239922" cy="2194560"/>
          </a:xfrm>
        </p:grpSpPr>
        <p:sp>
          <p:nvSpPr>
            <p:cNvPr id="16" name="Shape 4">
              <a:extLst>
                <a:ext uri="{FF2B5EF4-FFF2-40B4-BE49-F238E27FC236}">
                  <a16:creationId xmlns:a16="http://schemas.microsoft.com/office/drawing/2014/main" id="{19714F31-F00A-FFE0-FE33-DB1028262CFB}"/>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7" name="Shape 5">
              <a:extLst>
                <a:ext uri="{FF2B5EF4-FFF2-40B4-BE49-F238E27FC236}">
                  <a16:creationId xmlns:a16="http://schemas.microsoft.com/office/drawing/2014/main" id="{7DC078A5-2C58-3FFF-1D5D-89E6FD9FDA00}"/>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8" name="Text 6">
              <a:extLst>
                <a:ext uri="{FF2B5EF4-FFF2-40B4-BE49-F238E27FC236}">
                  <a16:creationId xmlns:a16="http://schemas.microsoft.com/office/drawing/2014/main" id="{4EA56DE3-74E8-3013-C82A-C66CCCB69476}"/>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GPU Highway</a:t>
              </a:r>
            </a:p>
          </p:txBody>
        </p:sp>
        <p:sp>
          <p:nvSpPr>
            <p:cNvPr id="19" name="Text 7">
              <a:extLst>
                <a:ext uri="{FF2B5EF4-FFF2-40B4-BE49-F238E27FC236}">
                  <a16:creationId xmlns:a16="http://schemas.microsoft.com/office/drawing/2014/main" id="{FBFE2B09-DEA4-ED70-2D82-D920C27956D6}"/>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Built the on-ramp, lanes, and looping. Translated contracts to GPU-friendly flat structures. Validated against CPU — identical results to 10 decimal places.</a:t>
              </a:r>
            </a:p>
          </p:txBody>
        </p:sp>
        <p:sp>
          <p:nvSpPr>
            <p:cNvPr id="20" name="Text 8">
              <a:extLst>
                <a:ext uri="{FF2B5EF4-FFF2-40B4-BE49-F238E27FC236}">
                  <a16:creationId xmlns:a16="http://schemas.microsoft.com/office/drawing/2014/main" id="{33D4478A-5F92-B458-9C9E-6B73876EC5B3}"/>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03</a:t>
              </a:r>
              <a:endParaRPr lang="en-US" sz="2400" dirty="0">
                <a:solidFill>
                  <a:schemeClr val="accent1"/>
                </a:solidFill>
              </a:endParaRPr>
            </a:p>
          </p:txBody>
        </p:sp>
      </p:grpSp>
      <p:grpSp>
        <p:nvGrpSpPr>
          <p:cNvPr id="21" name="Groep 20">
            <a:extLst>
              <a:ext uri="{FF2B5EF4-FFF2-40B4-BE49-F238E27FC236}">
                <a16:creationId xmlns:a16="http://schemas.microsoft.com/office/drawing/2014/main" id="{71D6B59E-2332-8AAD-70D1-25A49CDCF723}"/>
              </a:ext>
            </a:extLst>
          </p:cNvPr>
          <p:cNvGrpSpPr/>
          <p:nvPr/>
        </p:nvGrpSpPr>
        <p:grpSpPr>
          <a:xfrm>
            <a:off x="6648347" y="1127509"/>
            <a:ext cx="2098740" cy="1732488"/>
            <a:chOff x="5853953" y="1717637"/>
            <a:chExt cx="2239922" cy="2194560"/>
          </a:xfrm>
        </p:grpSpPr>
        <p:sp>
          <p:nvSpPr>
            <p:cNvPr id="22" name="Shape 4">
              <a:extLst>
                <a:ext uri="{FF2B5EF4-FFF2-40B4-BE49-F238E27FC236}">
                  <a16:creationId xmlns:a16="http://schemas.microsoft.com/office/drawing/2014/main" id="{BA378B12-0052-2152-FB10-F8180283127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3" name="Shape 5">
              <a:extLst>
                <a:ext uri="{FF2B5EF4-FFF2-40B4-BE49-F238E27FC236}">
                  <a16:creationId xmlns:a16="http://schemas.microsoft.com/office/drawing/2014/main" id="{F47D767B-346A-DE8D-BB20-CED9DAEC4A2D}"/>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24" name="Text 6">
              <a:extLst>
                <a:ext uri="{FF2B5EF4-FFF2-40B4-BE49-F238E27FC236}">
                  <a16:creationId xmlns:a16="http://schemas.microsoft.com/office/drawing/2014/main" id="{E2DE7F1B-EB0C-C77D-B911-D3AFE7A44552}"/>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CPU Engine</a:t>
              </a:r>
            </a:p>
          </p:txBody>
        </p:sp>
        <p:sp>
          <p:nvSpPr>
            <p:cNvPr id="25" name="Text 7">
              <a:extLst>
                <a:ext uri="{FF2B5EF4-FFF2-40B4-BE49-F238E27FC236}">
                  <a16:creationId xmlns:a16="http://schemas.microsoft.com/office/drawing/2014/main" id="{16C58CBB-E7CC-B0F2-4A35-9D5EE2FC521E}"/>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Parallelised across 8 CPU cores. Optimised memory layout and data structures. All 42 reference tests still pass.</a:t>
              </a:r>
            </a:p>
          </p:txBody>
        </p:sp>
        <p:sp>
          <p:nvSpPr>
            <p:cNvPr id="26" name="Text 8">
              <a:extLst>
                <a:ext uri="{FF2B5EF4-FFF2-40B4-BE49-F238E27FC236}">
                  <a16:creationId xmlns:a16="http://schemas.microsoft.com/office/drawing/2014/main" id="{DF8BD351-595A-5E84-28D4-0D71BD986961}"/>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02</a:t>
              </a:r>
              <a:endParaRPr lang="en-US" sz="2400" dirty="0">
                <a:solidFill>
                  <a:schemeClr val="accent1"/>
                </a:solidFill>
              </a:endParaRPr>
            </a:p>
          </p:txBody>
        </p:sp>
      </p:grpSp>
      <p:grpSp>
        <p:nvGrpSpPr>
          <p:cNvPr id="27" name="Groep 26">
            <a:extLst>
              <a:ext uri="{FF2B5EF4-FFF2-40B4-BE49-F238E27FC236}">
                <a16:creationId xmlns:a16="http://schemas.microsoft.com/office/drawing/2014/main" id="{65180AD8-6885-BEE1-0F97-3905BBB09FDF}"/>
              </a:ext>
            </a:extLst>
          </p:cNvPr>
          <p:cNvGrpSpPr/>
          <p:nvPr/>
        </p:nvGrpSpPr>
        <p:grpSpPr>
          <a:xfrm>
            <a:off x="6648347" y="2975495"/>
            <a:ext cx="2098740" cy="1732488"/>
            <a:chOff x="5853953" y="1717637"/>
            <a:chExt cx="2239922" cy="2194560"/>
          </a:xfrm>
        </p:grpSpPr>
        <p:sp>
          <p:nvSpPr>
            <p:cNvPr id="28" name="Shape 4">
              <a:extLst>
                <a:ext uri="{FF2B5EF4-FFF2-40B4-BE49-F238E27FC236}">
                  <a16:creationId xmlns:a16="http://schemas.microsoft.com/office/drawing/2014/main" id="{B7478B08-8F47-F3D1-B64C-240CC067108E}"/>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9" name="Shape 5">
              <a:extLst>
                <a:ext uri="{FF2B5EF4-FFF2-40B4-BE49-F238E27FC236}">
                  <a16:creationId xmlns:a16="http://schemas.microsoft.com/office/drawing/2014/main" id="{B9C17839-094E-8594-518D-91712C20A508}"/>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30" name="Text 6">
              <a:extLst>
                <a:ext uri="{FF2B5EF4-FFF2-40B4-BE49-F238E27FC236}">
                  <a16:creationId xmlns:a16="http://schemas.microsoft.com/office/drawing/2014/main" id="{AA745432-2CFF-EE4F-5627-006262730579}"/>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Insurance &amp; Reporting</a:t>
              </a:r>
            </a:p>
          </p:txBody>
        </p:sp>
        <p:sp>
          <p:nvSpPr>
            <p:cNvPr id="31" name="Text 7">
              <a:extLst>
                <a:ext uri="{FF2B5EF4-FFF2-40B4-BE49-F238E27FC236}">
                  <a16:creationId xmlns:a16="http://schemas.microsoft.com/office/drawing/2014/main" id="{55419DDD-611D-50AF-570C-5708A14D0422}"/>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Extended the highway with insurance state-transition models. Built Monte Carlo scenario engine, CLI demo tool, Excel reporting, and documentation site.</a:t>
              </a:r>
            </a:p>
          </p:txBody>
        </p:sp>
        <p:sp>
          <p:nvSpPr>
            <p:cNvPr id="32" name="Text 8">
              <a:extLst>
                <a:ext uri="{FF2B5EF4-FFF2-40B4-BE49-F238E27FC236}">
                  <a16:creationId xmlns:a16="http://schemas.microsoft.com/office/drawing/2014/main" id="{DEB4390F-34B0-FE2C-E373-C3647D1A11E7}"/>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04</a:t>
              </a:r>
              <a:endParaRPr lang="en-US" sz="2400" dirty="0">
                <a:solidFill>
                  <a:schemeClr val="accent1"/>
                </a:solidFill>
              </a:endParaRPr>
            </a:p>
          </p:txBody>
        </p:sp>
      </p:grpSp>
      <p:sp>
        <p:nvSpPr>
          <p:cNvPr id="34" name="Tekstvak 33">
            <a:extLst>
              <a:ext uri="{FF2B5EF4-FFF2-40B4-BE49-F238E27FC236}">
                <a16:creationId xmlns:a16="http://schemas.microsoft.com/office/drawing/2014/main" id="{32D872B8-8E3D-4605-665D-4756A56C32E5}"/>
              </a:ext>
            </a:extLst>
          </p:cNvPr>
          <p:cNvSpPr txBox="1"/>
          <p:nvPr/>
        </p:nvSpPr>
        <p:spPr>
          <a:xfrm>
            <a:off x="380176" y="1290666"/>
            <a:ext cx="3386699" cy="2115964"/>
          </a:xfrm>
          <a:prstGeom prst="rect">
            <a:avLst/>
          </a:prstGeom>
          <a:noFill/>
        </p:spPr>
        <p:txBody>
          <a:bodyPr wrap="square">
            <a:spAutoFit/>
          </a:bodyPr>
          <a:lstStyle/>
          <a:p>
            <a:pPr>
              <a:spcAft>
                <a:spcPts val="900"/>
              </a:spcAft>
            </a:pPr>
            <a:r>
              <a:rPr lang="en-US" sz="1350" b="1" cap="all" dirty="0">
                <a:solidFill>
                  <a:schemeClr val="accent3"/>
                </a:solidFill>
              </a:rPr>
              <a:t>Journey</a:t>
            </a:r>
          </a:p>
          <a:p>
            <a:pPr>
              <a:spcAft>
                <a:spcPts val="338"/>
              </a:spcAft>
            </a:pPr>
            <a:r>
              <a:rPr lang="en-US" sz="1350" b="1" dirty="0">
                <a:solidFill>
                  <a:schemeClr val="accent1"/>
                </a:solidFill>
              </a:rPr>
              <a:t>4 Main phases</a:t>
            </a:r>
            <a:br>
              <a:rPr lang="en-US" sz="1350" dirty="0">
                <a:solidFill>
                  <a:srgbClr val="8A9BB0"/>
                </a:solidFill>
              </a:rPr>
            </a:br>
            <a:endParaRPr lang="en-US" sz="1350" dirty="0">
              <a:solidFill>
                <a:srgbClr val="8A9BB0"/>
              </a:solidFill>
            </a:endParaRPr>
          </a:p>
          <a:p>
            <a:pPr algn="l">
              <a:buNone/>
            </a:pPr>
            <a:r>
              <a:rPr lang="en-US" sz="1350" dirty="0">
                <a:solidFill>
                  <a:schemeClr val="accent3"/>
                </a:solidFill>
              </a:rPr>
              <a:t>Four phases from studying the ACTUS spec to delivering a working GPU engine with insurance extensions, documentation, and reporting.</a:t>
            </a:r>
            <a:br>
              <a:rPr lang="en-US" sz="1350" dirty="0">
                <a:solidFill>
                  <a:schemeClr val="accent3"/>
                </a:solidFill>
              </a:rPr>
            </a:br>
            <a:br>
              <a:rPr lang="en-US" sz="1350" dirty="0">
                <a:solidFill>
                  <a:schemeClr val="accent3"/>
                </a:solidFill>
              </a:rPr>
            </a:br>
            <a:endParaRPr lang="en-US" sz="1350" dirty="0">
              <a:solidFill>
                <a:schemeClr val="accent3"/>
              </a:solidFill>
            </a:endParaRPr>
          </a:p>
        </p:txBody>
      </p:sp>
    </p:spTree>
    <p:extLst>
      <p:ext uri="{BB962C8B-B14F-4D97-AF65-F5344CB8AC3E}">
        <p14:creationId xmlns:p14="http://schemas.microsoft.com/office/powerpoint/2010/main" val="1198592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2B6075-F8EF-BB9E-3E97-63524797FF32}"/>
              </a:ext>
            </a:extLst>
          </p:cNvPr>
          <p:cNvSpPr>
            <a:spLocks noGrp="1"/>
          </p:cNvSpPr>
          <p:nvPr>
            <p:ph type="title"/>
          </p:nvPr>
        </p:nvSpPr>
        <p:spPr/>
        <p:txBody>
          <a:bodyPr/>
          <a:lstStyle/>
          <a:p>
            <a:r>
              <a:rPr lang="en-GB" dirty="0"/>
              <a:t>Key Technical Decisions</a:t>
            </a:r>
            <a:endParaRPr lang="en-NL" dirty="0"/>
          </a:p>
        </p:txBody>
      </p:sp>
      <p:sp>
        <p:nvSpPr>
          <p:cNvPr id="8" name="Tekstvak 7">
            <a:extLst>
              <a:ext uri="{FF2B5EF4-FFF2-40B4-BE49-F238E27FC236}">
                <a16:creationId xmlns:a16="http://schemas.microsoft.com/office/drawing/2014/main" id="{A747C7D7-477D-1A2F-A601-68D9CAB92875}"/>
              </a:ext>
            </a:extLst>
          </p:cNvPr>
          <p:cNvSpPr txBox="1"/>
          <p:nvPr/>
        </p:nvSpPr>
        <p:spPr>
          <a:xfrm>
            <a:off x="4377321" y="118729"/>
            <a:ext cx="4017532" cy="507831"/>
          </a:xfrm>
          <a:prstGeom prst="rect">
            <a:avLst/>
          </a:prstGeom>
          <a:noFill/>
        </p:spPr>
        <p:txBody>
          <a:bodyPr wrap="square">
            <a:spAutoFit/>
          </a:bodyPr>
          <a:lstStyle/>
          <a:p>
            <a:endParaRPr lang="en-US" sz="1350" dirty="0"/>
          </a:p>
        </p:txBody>
      </p:sp>
      <p:grpSp>
        <p:nvGrpSpPr>
          <p:cNvPr id="9" name="Groep 8">
            <a:extLst>
              <a:ext uri="{FF2B5EF4-FFF2-40B4-BE49-F238E27FC236}">
                <a16:creationId xmlns:a16="http://schemas.microsoft.com/office/drawing/2014/main" id="{51C5275E-B5C9-DC4D-D96D-5381EC6750D4}"/>
              </a:ext>
            </a:extLst>
          </p:cNvPr>
          <p:cNvGrpSpPr/>
          <p:nvPr/>
        </p:nvGrpSpPr>
        <p:grpSpPr>
          <a:xfrm>
            <a:off x="4326676" y="1127509"/>
            <a:ext cx="2098740" cy="1732488"/>
            <a:chOff x="5853953" y="1717637"/>
            <a:chExt cx="2239922" cy="2194560"/>
          </a:xfrm>
        </p:grpSpPr>
        <p:sp>
          <p:nvSpPr>
            <p:cNvPr id="10" name="Shape 4">
              <a:extLst>
                <a:ext uri="{FF2B5EF4-FFF2-40B4-BE49-F238E27FC236}">
                  <a16:creationId xmlns:a16="http://schemas.microsoft.com/office/drawing/2014/main" id="{200E0908-F065-55B4-C8AE-A46D08949D78}"/>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1" name="Shape 5">
              <a:extLst>
                <a:ext uri="{FF2B5EF4-FFF2-40B4-BE49-F238E27FC236}">
                  <a16:creationId xmlns:a16="http://schemas.microsoft.com/office/drawing/2014/main" id="{5DE56BDE-76D6-EF9D-E6BF-71F148F9BD6B}"/>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2" name="Text 6">
              <a:extLst>
                <a:ext uri="{FF2B5EF4-FFF2-40B4-BE49-F238E27FC236}">
                  <a16:creationId xmlns:a16="http://schemas.microsoft.com/office/drawing/2014/main" id="{1C8F99A8-D28F-89E4-F582-4495CC412BCA}"/>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Data Orientation</a:t>
              </a:r>
            </a:p>
          </p:txBody>
        </p:sp>
        <p:sp>
          <p:nvSpPr>
            <p:cNvPr id="13" name="Text 7">
              <a:extLst>
                <a:ext uri="{FF2B5EF4-FFF2-40B4-BE49-F238E27FC236}">
                  <a16:creationId xmlns:a16="http://schemas.microsoft.com/office/drawing/2014/main" id="{5CE60DD7-33F2-7CDD-BB8E-BB4A5F88B398}"/>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err="1">
                  <a:solidFill>
                    <a:schemeClr val="accent3"/>
                  </a:solidFill>
                </a:rPr>
                <a:t>Contracts reformatted as Structures of Arrays — flat, fixed-size numeric blocks — instead of object graphs. GPUs demand contiguous memory; pointers cause stalls.</a:t>
              </a:r>
            </a:p>
          </p:txBody>
        </p:sp>
        <p:sp>
          <p:nvSpPr>
            <p:cNvPr id="14" name="Text 8">
              <a:extLst>
                <a:ext uri="{FF2B5EF4-FFF2-40B4-BE49-F238E27FC236}">
                  <a16:creationId xmlns:a16="http://schemas.microsoft.com/office/drawing/2014/main" id="{3CB0FE64-4475-202D-F497-B2E4A8E21AAE}"/>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01</a:t>
              </a:r>
              <a:endParaRPr lang="en-US" sz="2400" dirty="0">
                <a:solidFill>
                  <a:schemeClr val="accent1"/>
                </a:solidFill>
              </a:endParaRPr>
            </a:p>
          </p:txBody>
        </p:sp>
      </p:grpSp>
      <p:grpSp>
        <p:nvGrpSpPr>
          <p:cNvPr id="15" name="Groep 14">
            <a:extLst>
              <a:ext uri="{FF2B5EF4-FFF2-40B4-BE49-F238E27FC236}">
                <a16:creationId xmlns:a16="http://schemas.microsoft.com/office/drawing/2014/main" id="{7C953152-C2A3-1E26-854E-AD02B59A234F}"/>
              </a:ext>
            </a:extLst>
          </p:cNvPr>
          <p:cNvGrpSpPr/>
          <p:nvPr/>
        </p:nvGrpSpPr>
        <p:grpSpPr>
          <a:xfrm>
            <a:off x="4326676" y="2975495"/>
            <a:ext cx="2098740" cy="1732488"/>
            <a:chOff x="5853953" y="1717637"/>
            <a:chExt cx="2239922" cy="2194560"/>
          </a:xfrm>
        </p:grpSpPr>
        <p:sp>
          <p:nvSpPr>
            <p:cNvPr id="16" name="Shape 4">
              <a:extLst>
                <a:ext uri="{FF2B5EF4-FFF2-40B4-BE49-F238E27FC236}">
                  <a16:creationId xmlns:a16="http://schemas.microsoft.com/office/drawing/2014/main" id="{19714F31-F00A-FFE0-FE33-DB1028262CFB}"/>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7" name="Shape 5">
              <a:extLst>
                <a:ext uri="{FF2B5EF4-FFF2-40B4-BE49-F238E27FC236}">
                  <a16:creationId xmlns:a16="http://schemas.microsoft.com/office/drawing/2014/main" id="{7DC078A5-2C58-3FFF-1D5D-89E6FD9FDA00}"/>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8" name="Text 6">
              <a:extLst>
                <a:ext uri="{FF2B5EF4-FFF2-40B4-BE49-F238E27FC236}">
                  <a16:creationId xmlns:a16="http://schemas.microsoft.com/office/drawing/2014/main" id="{4EA56DE3-74E8-3013-C82A-C66CCCB69476}"/>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One Car Per Lane</a:t>
              </a:r>
            </a:p>
          </p:txBody>
        </p:sp>
        <p:sp>
          <p:nvSpPr>
            <p:cNvPr id="19" name="Text 7">
              <a:extLst>
                <a:ext uri="{FF2B5EF4-FFF2-40B4-BE49-F238E27FC236}">
                  <a16:creationId xmlns:a16="http://schemas.microsoft.com/office/drawing/2014/main" id="{FBFE2B09-DEA4-ED70-2D82-D920C27956D6}"/>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Each GPU thread handles one contract end-to-end. Parallelism comes from 100K simultaneous contracts, not from splitting one contract across threads. Off-Ramp sinks are needed</a:t>
              </a:r>
            </a:p>
          </p:txBody>
        </p:sp>
        <p:sp>
          <p:nvSpPr>
            <p:cNvPr id="20" name="Text 8">
              <a:extLst>
                <a:ext uri="{FF2B5EF4-FFF2-40B4-BE49-F238E27FC236}">
                  <a16:creationId xmlns:a16="http://schemas.microsoft.com/office/drawing/2014/main" id="{33D4478A-5F92-B458-9C9E-6B73876EC5B3}"/>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03</a:t>
              </a:r>
              <a:endParaRPr lang="en-US" sz="2400" dirty="0">
                <a:solidFill>
                  <a:schemeClr val="accent1"/>
                </a:solidFill>
              </a:endParaRPr>
            </a:p>
          </p:txBody>
        </p:sp>
      </p:grpSp>
      <p:grpSp>
        <p:nvGrpSpPr>
          <p:cNvPr id="21" name="Groep 20">
            <a:extLst>
              <a:ext uri="{FF2B5EF4-FFF2-40B4-BE49-F238E27FC236}">
                <a16:creationId xmlns:a16="http://schemas.microsoft.com/office/drawing/2014/main" id="{71D6B59E-2332-8AAD-70D1-25A49CDCF723}"/>
              </a:ext>
            </a:extLst>
          </p:cNvPr>
          <p:cNvGrpSpPr/>
          <p:nvPr/>
        </p:nvGrpSpPr>
        <p:grpSpPr>
          <a:xfrm>
            <a:off x="6648347" y="1127509"/>
            <a:ext cx="2098740" cy="1732488"/>
            <a:chOff x="5853953" y="1717637"/>
            <a:chExt cx="2239922" cy="2194560"/>
          </a:xfrm>
        </p:grpSpPr>
        <p:sp>
          <p:nvSpPr>
            <p:cNvPr id="22" name="Shape 4">
              <a:extLst>
                <a:ext uri="{FF2B5EF4-FFF2-40B4-BE49-F238E27FC236}">
                  <a16:creationId xmlns:a16="http://schemas.microsoft.com/office/drawing/2014/main" id="{BA378B12-0052-2152-FB10-F8180283127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3" name="Shape 5">
              <a:extLst>
                <a:ext uri="{FF2B5EF4-FFF2-40B4-BE49-F238E27FC236}">
                  <a16:creationId xmlns:a16="http://schemas.microsoft.com/office/drawing/2014/main" id="{F47D767B-346A-DE8D-BB20-CED9DAEC4A2D}"/>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24" name="Text 6">
              <a:extLst>
                <a:ext uri="{FF2B5EF4-FFF2-40B4-BE49-F238E27FC236}">
                  <a16:creationId xmlns:a16="http://schemas.microsoft.com/office/drawing/2014/main" id="{E2DE7F1B-EB0C-C77D-B911-D3AFE7A44552}"/>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Cross-Platform GPU</a:t>
              </a:r>
            </a:p>
          </p:txBody>
        </p:sp>
        <p:sp>
          <p:nvSpPr>
            <p:cNvPr id="25" name="Text 7">
              <a:extLst>
                <a:ext uri="{FF2B5EF4-FFF2-40B4-BE49-F238E27FC236}">
                  <a16:creationId xmlns:a16="http://schemas.microsoft.com/office/drawing/2014/main" id="{16C58CBB-E7CC-B0F2-4A35-9D5EE2FC521E}"/>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err="1">
                  <a:solidFill>
                    <a:schemeClr val="accent3"/>
                  </a:solidFill>
                </a:rPr>
                <a:t>Runs on NVIDIA (CUDA), AMD/Intel (OpenCL), or CPU fallback. Same measurements everywhere. Developers test on laptops; production uses high-end cards.</a:t>
              </a:r>
            </a:p>
          </p:txBody>
        </p:sp>
        <p:sp>
          <p:nvSpPr>
            <p:cNvPr id="26" name="Text 8">
              <a:extLst>
                <a:ext uri="{FF2B5EF4-FFF2-40B4-BE49-F238E27FC236}">
                  <a16:creationId xmlns:a16="http://schemas.microsoft.com/office/drawing/2014/main" id="{DF8BD351-595A-5E84-28D4-0D71BD986961}"/>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02</a:t>
              </a:r>
              <a:endParaRPr lang="en-US" sz="2400" dirty="0">
                <a:solidFill>
                  <a:schemeClr val="accent1"/>
                </a:solidFill>
              </a:endParaRPr>
            </a:p>
          </p:txBody>
        </p:sp>
      </p:grpSp>
      <p:grpSp>
        <p:nvGrpSpPr>
          <p:cNvPr id="27" name="Groep 26">
            <a:extLst>
              <a:ext uri="{FF2B5EF4-FFF2-40B4-BE49-F238E27FC236}">
                <a16:creationId xmlns:a16="http://schemas.microsoft.com/office/drawing/2014/main" id="{65180AD8-6885-BEE1-0F97-3905BBB09FDF}"/>
              </a:ext>
            </a:extLst>
          </p:cNvPr>
          <p:cNvGrpSpPr/>
          <p:nvPr/>
        </p:nvGrpSpPr>
        <p:grpSpPr>
          <a:xfrm>
            <a:off x="6648347" y="2975495"/>
            <a:ext cx="2098740" cy="1732488"/>
            <a:chOff x="5853953" y="1717637"/>
            <a:chExt cx="2239922" cy="2194560"/>
          </a:xfrm>
        </p:grpSpPr>
        <p:sp>
          <p:nvSpPr>
            <p:cNvPr id="28" name="Shape 4">
              <a:extLst>
                <a:ext uri="{FF2B5EF4-FFF2-40B4-BE49-F238E27FC236}">
                  <a16:creationId xmlns:a16="http://schemas.microsoft.com/office/drawing/2014/main" id="{B7478B08-8F47-F3D1-B64C-240CC067108E}"/>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9" name="Shape 5">
              <a:extLst>
                <a:ext uri="{FF2B5EF4-FFF2-40B4-BE49-F238E27FC236}">
                  <a16:creationId xmlns:a16="http://schemas.microsoft.com/office/drawing/2014/main" id="{B9C17839-094E-8594-518D-91712C20A508}"/>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30" name="Text 6">
              <a:extLst>
                <a:ext uri="{FF2B5EF4-FFF2-40B4-BE49-F238E27FC236}">
                  <a16:creationId xmlns:a16="http://schemas.microsoft.com/office/drawing/2014/main" id="{AA745432-2CFF-EE4F-5627-006262730579}"/>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Determinism First</a:t>
              </a:r>
            </a:p>
          </p:txBody>
        </p:sp>
        <p:sp>
          <p:nvSpPr>
            <p:cNvPr id="31" name="Text 7">
              <a:extLst>
                <a:ext uri="{FF2B5EF4-FFF2-40B4-BE49-F238E27FC236}">
                  <a16:creationId xmlns:a16="http://schemas.microsoft.com/office/drawing/2014/main" id="{55419DDD-611D-50AF-570C-5708A14D0422}"/>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Fixed random seeds, locale-independent parsing, shared pre-calculated discount factors. Same inputs produce identical outputs on every platform, every time.</a:t>
              </a:r>
            </a:p>
          </p:txBody>
        </p:sp>
        <p:sp>
          <p:nvSpPr>
            <p:cNvPr id="32" name="Text 8">
              <a:extLst>
                <a:ext uri="{FF2B5EF4-FFF2-40B4-BE49-F238E27FC236}">
                  <a16:creationId xmlns:a16="http://schemas.microsoft.com/office/drawing/2014/main" id="{DEB4390F-34B0-FE2C-E373-C3647D1A11E7}"/>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04</a:t>
              </a:r>
              <a:endParaRPr lang="en-US" sz="2400" dirty="0">
                <a:solidFill>
                  <a:schemeClr val="accent1"/>
                </a:solidFill>
              </a:endParaRPr>
            </a:p>
          </p:txBody>
        </p:sp>
      </p:grpSp>
      <p:sp>
        <p:nvSpPr>
          <p:cNvPr id="34" name="Tekstvak 33">
            <a:extLst>
              <a:ext uri="{FF2B5EF4-FFF2-40B4-BE49-F238E27FC236}">
                <a16:creationId xmlns:a16="http://schemas.microsoft.com/office/drawing/2014/main" id="{32D872B8-8E3D-4605-665D-4756A56C32E5}"/>
              </a:ext>
            </a:extLst>
          </p:cNvPr>
          <p:cNvSpPr txBox="1"/>
          <p:nvPr/>
        </p:nvSpPr>
        <p:spPr>
          <a:xfrm>
            <a:off x="380176" y="1290666"/>
            <a:ext cx="3386699" cy="2531462"/>
          </a:xfrm>
          <a:prstGeom prst="rect">
            <a:avLst/>
          </a:prstGeom>
          <a:noFill/>
        </p:spPr>
        <p:txBody>
          <a:bodyPr wrap="square">
            <a:spAutoFit/>
          </a:bodyPr>
          <a:lstStyle/>
          <a:p>
            <a:pPr>
              <a:spcAft>
                <a:spcPts val="900"/>
              </a:spcAft>
            </a:pPr>
            <a:r>
              <a:rPr lang="en-US" sz="1350" b="1" cap="all" dirty="0">
                <a:solidFill>
                  <a:schemeClr val="accent3"/>
                </a:solidFill>
              </a:rPr>
              <a:t>Architecture</a:t>
            </a:r>
          </a:p>
          <a:p>
            <a:pPr>
              <a:spcAft>
                <a:spcPts val="338"/>
              </a:spcAft>
            </a:pPr>
            <a:r>
              <a:rPr lang="en-US" sz="1350" b="1" dirty="0">
                <a:solidFill>
                  <a:schemeClr val="accent1"/>
                </a:solidFill>
              </a:rPr>
              <a:t> </a:t>
            </a:r>
          </a:p>
          <a:p>
            <a:pPr algn="l">
              <a:buNone/>
            </a:pPr>
            <a:r>
              <a:rPr lang="en-US" sz="1350" dirty="0">
                <a:solidFill>
                  <a:schemeClr val="accent3"/>
                </a:solidFill>
              </a:rPr>
              <a:t>Every decision shaped the system’s speed, correctness, or extensibility. None were made by preference — all were made by requirement.</a:t>
            </a:r>
          </a:p>
        </p:txBody>
      </p:sp>
    </p:spTree>
    <p:extLst>
      <p:ext uri="{BB962C8B-B14F-4D97-AF65-F5344CB8AC3E}">
        <p14:creationId xmlns:p14="http://schemas.microsoft.com/office/powerpoint/2010/main" val="119859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0DDAE1-C75F-B2A8-87C7-39DF147F2C1F}"/>
              </a:ext>
            </a:extLst>
          </p:cNvPr>
          <p:cNvSpPr>
            <a:spLocks noGrp="1"/>
          </p:cNvSpPr>
          <p:nvPr>
            <p:ph type="title"/>
          </p:nvPr>
        </p:nvSpPr>
        <p:spPr/>
        <p:txBody>
          <a:bodyPr/>
          <a:lstStyle/>
          <a:p>
            <a:r>
              <a:rPr lang="en-GB" dirty="0"/>
              <a:t>Challenges Solved</a:t>
            </a:r>
            <a:endParaRPr lang="en-NL" dirty="0"/>
          </a:p>
        </p:txBody>
      </p:sp>
      <p:grpSp>
        <p:nvGrpSpPr>
          <p:cNvPr id="4" name="Groep 3">
            <a:extLst>
              <a:ext uri="{FF2B5EF4-FFF2-40B4-BE49-F238E27FC236}">
                <a16:creationId xmlns:a16="http://schemas.microsoft.com/office/drawing/2014/main" id="{DD614DD8-DDB6-BF55-A6A2-A1C86A426642}"/>
              </a:ext>
            </a:extLst>
          </p:cNvPr>
          <p:cNvGrpSpPr/>
          <p:nvPr/>
        </p:nvGrpSpPr>
        <p:grpSpPr>
          <a:xfrm>
            <a:off x="706232" y="1510329"/>
            <a:ext cx="2468880" cy="2122843"/>
            <a:chOff x="5853953" y="1717637"/>
            <a:chExt cx="2239922" cy="2194560"/>
          </a:xfrm>
        </p:grpSpPr>
        <p:sp>
          <p:nvSpPr>
            <p:cNvPr id="5" name="Shape 4">
              <a:extLst>
                <a:ext uri="{FF2B5EF4-FFF2-40B4-BE49-F238E27FC236}">
                  <a16:creationId xmlns:a16="http://schemas.microsoft.com/office/drawing/2014/main" id="{C1664C36-2E1E-2044-E31F-2B170E3259B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6" name="Shape 5">
              <a:extLst>
                <a:ext uri="{FF2B5EF4-FFF2-40B4-BE49-F238E27FC236}">
                  <a16:creationId xmlns:a16="http://schemas.microsoft.com/office/drawing/2014/main" id="{4872F6E5-6D27-F410-F1B2-ED080681D756}"/>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7" name="Text 6">
              <a:extLst>
                <a:ext uri="{FF2B5EF4-FFF2-40B4-BE49-F238E27FC236}">
                  <a16:creationId xmlns:a16="http://schemas.microsoft.com/office/drawing/2014/main" id="{B62E6E7D-ABF6-E7CE-82A4-909471F7404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The Locale Crash</a:t>
              </a:r>
              <a:endParaRPr lang="en-US" sz="1400" dirty="0">
                <a:solidFill>
                  <a:schemeClr val="bg2"/>
                </a:solidFill>
              </a:endParaRPr>
            </a:p>
          </p:txBody>
        </p:sp>
        <p:sp>
          <p:nvSpPr>
            <p:cNvPr id="8" name="Text 7">
              <a:extLst>
                <a:ext uri="{FF2B5EF4-FFF2-40B4-BE49-F238E27FC236}">
                  <a16:creationId xmlns:a16="http://schemas.microsoft.com/office/drawing/2014/main" id="{BEE9DBFA-247A-9278-3D9E-3E2427808002}"/>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100" dirty="0">
                  <a:solidFill>
                    <a:schemeClr val="accent3"/>
                  </a:solidFill>
                </a:rPr>
                <a:t>European locale silently misread decimal points: 5.25% became 525%. Fix: locked all parsing to a single locale-independent standard. All 42 reference tests now pass everywhere.</a:t>
              </a:r>
            </a:p>
          </p:txBody>
        </p:sp>
        <p:sp>
          <p:nvSpPr>
            <p:cNvPr id="9" name="Text 8">
              <a:extLst>
                <a:ext uri="{FF2B5EF4-FFF2-40B4-BE49-F238E27FC236}">
                  <a16:creationId xmlns:a16="http://schemas.microsoft.com/office/drawing/2014/main" id="{1B728989-579D-295B-90D3-5DABB0133DBF}"/>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10" name="Groep 9">
            <a:extLst>
              <a:ext uri="{FF2B5EF4-FFF2-40B4-BE49-F238E27FC236}">
                <a16:creationId xmlns:a16="http://schemas.microsoft.com/office/drawing/2014/main" id="{1E9D3A7F-48E1-98C1-7F6C-4D5287AC8922}"/>
              </a:ext>
            </a:extLst>
          </p:cNvPr>
          <p:cNvGrpSpPr/>
          <p:nvPr/>
        </p:nvGrpSpPr>
        <p:grpSpPr>
          <a:xfrm>
            <a:off x="5751761" y="1510329"/>
            <a:ext cx="2468880" cy="2122843"/>
            <a:chOff x="5853953" y="1717637"/>
            <a:chExt cx="2239922" cy="2194560"/>
          </a:xfrm>
        </p:grpSpPr>
        <p:sp>
          <p:nvSpPr>
            <p:cNvPr id="11" name="Shape 4">
              <a:extLst>
                <a:ext uri="{FF2B5EF4-FFF2-40B4-BE49-F238E27FC236}">
                  <a16:creationId xmlns:a16="http://schemas.microsoft.com/office/drawing/2014/main" id="{96FD4223-6906-3799-E2CA-4ED31FD7CE71}"/>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2" name="Shape 5">
              <a:extLst>
                <a:ext uri="{FF2B5EF4-FFF2-40B4-BE49-F238E27FC236}">
                  <a16:creationId xmlns:a16="http://schemas.microsoft.com/office/drawing/2014/main" id="{0759978F-BD29-772C-F8B8-70A335BB64BC}"/>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3" name="Text 6">
              <a:extLst>
                <a:ext uri="{FF2B5EF4-FFF2-40B4-BE49-F238E27FC236}">
                  <a16:creationId xmlns:a16="http://schemas.microsoft.com/office/drawing/2014/main" id="{3168F2DB-A2F4-28CC-086D-28CBE146AEBD}"/>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Precision Drift</a:t>
              </a:r>
              <a:endParaRPr lang="en-US" sz="1400" dirty="0">
                <a:solidFill>
                  <a:schemeClr val="bg2"/>
                </a:solidFill>
              </a:endParaRPr>
            </a:p>
          </p:txBody>
        </p:sp>
        <p:sp>
          <p:nvSpPr>
            <p:cNvPr id="14" name="Text 7">
              <a:extLst>
                <a:ext uri="{FF2B5EF4-FFF2-40B4-BE49-F238E27FC236}">
                  <a16:creationId xmlns:a16="http://schemas.microsoft.com/office/drawing/2014/main" id="{E52F59A3-2205-CCE8-2480-CCFF1C998D78}"/>
                </a:ext>
              </a:extLst>
            </p:cNvPr>
            <p:cNvSpPr/>
            <p:nvPr/>
          </p:nvSpPr>
          <p:spPr>
            <a:xfrm>
              <a:off x="5935438" y="2174837"/>
              <a:ext cx="2012133" cy="1547457"/>
            </a:xfrm>
            <a:prstGeom prst="rect">
              <a:avLst/>
            </a:prstGeom>
            <a:noFill/>
            <a:ln/>
          </p:spPr>
          <p:txBody>
            <a:bodyPr wrap="square" rtlCol="0" anchor="t"/>
            <a:lstStyle/>
            <a:p>
              <a:pPr>
                <a:lnSpc>
                  <a:spcPct val="140000"/>
                </a:lnSpc>
              </a:pPr>
              <a:r>
                <a:rPr lang="en-US" sz="1100" dirty="0">
                  <a:solidFill>
                    <a:schemeClr val="accent3"/>
                  </a:solidFill>
                </a:rPr>
                <a:t>CPU and GPU sometimes differ at the 10th decimal place due to arithmetic ordering. Fix: compute sensitive discount factors once on CPU, share as pre-calculated values.</a:t>
              </a:r>
            </a:p>
          </p:txBody>
        </p:sp>
        <p:sp>
          <p:nvSpPr>
            <p:cNvPr id="15" name="Text 8">
              <a:extLst>
                <a:ext uri="{FF2B5EF4-FFF2-40B4-BE49-F238E27FC236}">
                  <a16:creationId xmlns:a16="http://schemas.microsoft.com/office/drawing/2014/main" id="{F59081B5-1BDB-3C7A-B89B-825C4A97597C}"/>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03</a:t>
              </a:r>
              <a:endParaRPr lang="en-US" sz="2800" dirty="0">
                <a:solidFill>
                  <a:schemeClr val="accent1"/>
                </a:solidFill>
              </a:endParaRPr>
            </a:p>
          </p:txBody>
        </p:sp>
      </p:grpSp>
      <p:grpSp>
        <p:nvGrpSpPr>
          <p:cNvPr id="16" name="Groep 15">
            <a:extLst>
              <a:ext uri="{FF2B5EF4-FFF2-40B4-BE49-F238E27FC236}">
                <a16:creationId xmlns:a16="http://schemas.microsoft.com/office/drawing/2014/main" id="{71AF748B-5EA1-09E0-F509-6B4E1E07C94C}"/>
              </a:ext>
            </a:extLst>
          </p:cNvPr>
          <p:cNvGrpSpPr/>
          <p:nvPr/>
        </p:nvGrpSpPr>
        <p:grpSpPr>
          <a:xfrm>
            <a:off x="3228997" y="1510329"/>
            <a:ext cx="2468880" cy="2122843"/>
            <a:chOff x="5853953" y="1717637"/>
            <a:chExt cx="2239922" cy="2194560"/>
          </a:xfrm>
        </p:grpSpPr>
        <p:sp>
          <p:nvSpPr>
            <p:cNvPr id="17" name="Shape 4">
              <a:extLst>
                <a:ext uri="{FF2B5EF4-FFF2-40B4-BE49-F238E27FC236}">
                  <a16:creationId xmlns:a16="http://schemas.microsoft.com/office/drawing/2014/main" id="{B64260CD-6AF5-31FC-3EA4-3AE97860196A}"/>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8" name="Shape 5">
              <a:extLst>
                <a:ext uri="{FF2B5EF4-FFF2-40B4-BE49-F238E27FC236}">
                  <a16:creationId xmlns:a16="http://schemas.microsoft.com/office/drawing/2014/main" id="{D019E820-B586-B2E0-FB20-FE0A98D30997}"/>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9" name="Text 6">
              <a:extLst>
                <a:ext uri="{FF2B5EF4-FFF2-40B4-BE49-F238E27FC236}">
                  <a16:creationId xmlns:a16="http://schemas.microsoft.com/office/drawing/2014/main" id="{568857D3-8693-878D-428A-E378D79348A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The On-Ramp Problem</a:t>
              </a:r>
              <a:endParaRPr lang="en-US" sz="1400" dirty="0">
                <a:solidFill>
                  <a:schemeClr val="bg2"/>
                </a:solidFill>
              </a:endParaRPr>
            </a:p>
          </p:txBody>
        </p:sp>
        <p:sp>
          <p:nvSpPr>
            <p:cNvPr id="20" name="Text 7">
              <a:extLst>
                <a:ext uri="{FF2B5EF4-FFF2-40B4-BE49-F238E27FC236}">
                  <a16:creationId xmlns:a16="http://schemas.microsoft.com/office/drawing/2014/main" id="{DA0F05AD-6B8D-7C91-405C-B9B57BCF82E7}"/>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100" dirty="0">
                  <a:solidFill>
                    <a:schemeClr val="accent3"/>
                  </a:solidFill>
                </a:rPr>
                <a:t>Contracts arrive with text labels, date objects, and variable-length lists. The GPU needs flat, fixed-size numbers. Solution: automatic stripping at ingestion — transparent to callers.</a:t>
              </a:r>
            </a:p>
          </p:txBody>
        </p:sp>
        <p:sp>
          <p:nvSpPr>
            <p:cNvPr id="21" name="Text 8">
              <a:extLst>
                <a:ext uri="{FF2B5EF4-FFF2-40B4-BE49-F238E27FC236}">
                  <a16:creationId xmlns:a16="http://schemas.microsoft.com/office/drawing/2014/main" id="{8B0632BF-D510-734E-95C4-07EFB71AE2B7}"/>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02</a:t>
              </a:r>
              <a:endParaRPr lang="en-US" sz="2800" dirty="0">
                <a:solidFill>
                  <a:schemeClr val="accent1"/>
                </a:solidFill>
              </a:endParaRPr>
            </a:p>
          </p:txBody>
        </p:sp>
      </p:grpSp>
      <p:grpSp>
        <p:nvGrpSpPr>
          <p:cNvPr id="22" name="Groep 21">
            <a:extLst>
              <a:ext uri="{FF2B5EF4-FFF2-40B4-BE49-F238E27FC236}">
                <a16:creationId xmlns:a16="http://schemas.microsoft.com/office/drawing/2014/main" id="{A2D7E9C0-BD49-0E0A-FB76-3797012AF59C}"/>
              </a:ext>
            </a:extLst>
          </p:cNvPr>
          <p:cNvGrpSpPr/>
          <p:nvPr/>
        </p:nvGrpSpPr>
        <p:grpSpPr>
          <a:xfrm>
            <a:off x="747708" y="4247555"/>
            <a:ext cx="7442698" cy="347472"/>
            <a:chOff x="5303520" y="3447288"/>
            <a:chExt cx="3529584" cy="347472"/>
          </a:xfrm>
        </p:grpSpPr>
        <p:sp>
          <p:nvSpPr>
            <p:cNvPr id="23" name="Shape 19">
              <a:extLst>
                <a:ext uri="{FF2B5EF4-FFF2-40B4-BE49-F238E27FC236}">
                  <a16:creationId xmlns:a16="http://schemas.microsoft.com/office/drawing/2014/main" id="{FEF22AFC-11D0-4004-879F-688B71D599BB}"/>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24" name="Text 20">
              <a:extLst>
                <a:ext uri="{FF2B5EF4-FFF2-40B4-BE49-F238E27FC236}">
                  <a16:creationId xmlns:a16="http://schemas.microsoft.com/office/drawing/2014/main" id="{DDF3BF4A-1C63-95C7-A5A1-206668F70629}"/>
                </a:ext>
              </a:extLst>
            </p:cNvPr>
            <p:cNvSpPr/>
            <p:nvPr/>
          </p:nvSpPr>
          <p:spPr>
            <a:xfrm>
              <a:off x="5449824" y="3447288"/>
              <a:ext cx="3383280" cy="347472"/>
            </a:xfrm>
            <a:prstGeom prst="rect">
              <a:avLst/>
            </a:prstGeom>
            <a:noFill/>
            <a:ln/>
          </p:spPr>
          <p:txBody>
            <a:bodyPr wrap="square" rtlCol="0" anchor="ctr"/>
            <a:lstStyle/>
            <a:p>
              <a:r>
                <a:rPr lang="en-US" sz="1500" dirty="0">
                  <a:solidFill>
                    <a:schemeClr val="accent3"/>
                  </a:solidFill>
                </a:rPr>
                <a:t>Every challenge was solved while keeping the golden rule: same inputs, same outputs — to 10 decimal places — on every platform.</a:t>
              </a:r>
            </a:p>
          </p:txBody>
        </p:sp>
      </p:grpSp>
    </p:spTree>
    <p:extLst>
      <p:ext uri="{BB962C8B-B14F-4D97-AF65-F5344CB8AC3E}">
        <p14:creationId xmlns:p14="http://schemas.microsoft.com/office/powerpoint/2010/main" val="73185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0DDAE1-C75F-B2A8-87C7-39DF147F2C1F}"/>
              </a:ext>
            </a:extLst>
          </p:cNvPr>
          <p:cNvSpPr>
            <a:spLocks noGrp="1"/>
          </p:cNvSpPr>
          <p:nvPr>
            <p:ph type="title"/>
          </p:nvPr>
        </p:nvSpPr>
        <p:spPr/>
        <p:txBody>
          <a:bodyPr/>
          <a:lstStyle/>
          <a:p>
            <a:r>
              <a:rPr lang="en-GB" dirty="0"/>
              <a:t>Benchmark Results</a:t>
            </a:r>
            <a:endParaRPr lang="en-NL" dirty="0"/>
          </a:p>
        </p:txBody>
      </p:sp>
      <p:grpSp>
        <p:nvGrpSpPr>
          <p:cNvPr id="4" name="Groep 3">
            <a:extLst>
              <a:ext uri="{FF2B5EF4-FFF2-40B4-BE49-F238E27FC236}">
                <a16:creationId xmlns:a16="http://schemas.microsoft.com/office/drawing/2014/main" id="{DD614DD8-DDB6-BF55-A6A2-A1C86A426642}"/>
              </a:ext>
            </a:extLst>
          </p:cNvPr>
          <p:cNvGrpSpPr/>
          <p:nvPr/>
        </p:nvGrpSpPr>
        <p:grpSpPr>
          <a:xfrm>
            <a:off x="706232" y="1510329"/>
            <a:ext cx="2468880" cy="2122843"/>
            <a:chOff x="5853953" y="1717637"/>
            <a:chExt cx="2239922" cy="2194560"/>
          </a:xfrm>
        </p:grpSpPr>
        <p:sp>
          <p:nvSpPr>
            <p:cNvPr id="5" name="Shape 4">
              <a:extLst>
                <a:ext uri="{FF2B5EF4-FFF2-40B4-BE49-F238E27FC236}">
                  <a16:creationId xmlns:a16="http://schemas.microsoft.com/office/drawing/2014/main" id="{C1664C36-2E1E-2044-E31F-2B170E3259B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6" name="Shape 5">
              <a:extLst>
                <a:ext uri="{FF2B5EF4-FFF2-40B4-BE49-F238E27FC236}">
                  <a16:creationId xmlns:a16="http://schemas.microsoft.com/office/drawing/2014/main" id="{4872F6E5-6D27-F410-F1B2-ED080681D756}"/>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7" name="Text 6">
              <a:extLst>
                <a:ext uri="{FF2B5EF4-FFF2-40B4-BE49-F238E27FC236}">
                  <a16:creationId xmlns:a16="http://schemas.microsoft.com/office/drawing/2014/main" id="{B62E6E7D-ABF6-E7CE-82A4-909471F7404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100% Accuracy</a:t>
              </a:r>
              <a:endParaRPr lang="en-US" sz="1400" dirty="0">
                <a:solidFill>
                  <a:schemeClr val="bg2"/>
                </a:solidFill>
              </a:endParaRPr>
            </a:p>
          </p:txBody>
        </p:sp>
        <p:sp>
          <p:nvSpPr>
            <p:cNvPr id="8" name="Text 7">
              <a:extLst>
                <a:ext uri="{FF2B5EF4-FFF2-40B4-BE49-F238E27FC236}">
                  <a16:creationId xmlns:a16="http://schemas.microsoft.com/office/drawing/2014/main" id="{BEE9DBFA-247A-9278-3D9E-3E2427808002}"/>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100" dirty="0">
                  <a:solidFill>
                    <a:schemeClr val="accent3"/>
                  </a:solidFill>
                </a:rPr>
                <a:t>All 42 official ACTUS reference test cases pass on all three engines: Java reference, C# CPU, and C# GPU. Results match to 10 decimal places across every platform.</a:t>
              </a:r>
            </a:p>
          </p:txBody>
        </p:sp>
        <p:sp>
          <p:nvSpPr>
            <p:cNvPr id="9" name="Text 8">
              <a:extLst>
                <a:ext uri="{FF2B5EF4-FFF2-40B4-BE49-F238E27FC236}">
                  <a16:creationId xmlns:a16="http://schemas.microsoft.com/office/drawing/2014/main" id="{1B728989-579D-295B-90D3-5DABB0133DBF}"/>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10" name="Groep 9">
            <a:extLst>
              <a:ext uri="{FF2B5EF4-FFF2-40B4-BE49-F238E27FC236}">
                <a16:creationId xmlns:a16="http://schemas.microsoft.com/office/drawing/2014/main" id="{1E9D3A7F-48E1-98C1-7F6C-4D5287AC8922}"/>
              </a:ext>
            </a:extLst>
          </p:cNvPr>
          <p:cNvGrpSpPr/>
          <p:nvPr/>
        </p:nvGrpSpPr>
        <p:grpSpPr>
          <a:xfrm>
            <a:off x="5751761" y="1510329"/>
            <a:ext cx="2468880" cy="2122843"/>
            <a:chOff x="5853953" y="1717637"/>
            <a:chExt cx="2239922" cy="2194560"/>
          </a:xfrm>
        </p:grpSpPr>
        <p:sp>
          <p:nvSpPr>
            <p:cNvPr id="11" name="Shape 4">
              <a:extLst>
                <a:ext uri="{FF2B5EF4-FFF2-40B4-BE49-F238E27FC236}">
                  <a16:creationId xmlns:a16="http://schemas.microsoft.com/office/drawing/2014/main" id="{96FD4223-6906-3799-E2CA-4ED31FD7CE71}"/>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2" name="Shape 5">
              <a:extLst>
                <a:ext uri="{FF2B5EF4-FFF2-40B4-BE49-F238E27FC236}">
                  <a16:creationId xmlns:a16="http://schemas.microsoft.com/office/drawing/2014/main" id="{0759978F-BD29-772C-F8B8-70A335BB64BC}"/>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3" name="Text 6">
              <a:extLst>
                <a:ext uri="{FF2B5EF4-FFF2-40B4-BE49-F238E27FC236}">
                  <a16:creationId xmlns:a16="http://schemas.microsoft.com/office/drawing/2014/main" id="{3168F2DB-A2F4-28CC-086D-28CBE146AEBD}"/>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5× Monte Carlo</a:t>
              </a:r>
              <a:endParaRPr lang="en-US" sz="1400" dirty="0">
                <a:solidFill>
                  <a:schemeClr val="bg2"/>
                </a:solidFill>
              </a:endParaRPr>
            </a:p>
          </p:txBody>
        </p:sp>
        <p:sp>
          <p:nvSpPr>
            <p:cNvPr id="14" name="Text 7">
              <a:extLst>
                <a:ext uri="{FF2B5EF4-FFF2-40B4-BE49-F238E27FC236}">
                  <a16:creationId xmlns:a16="http://schemas.microsoft.com/office/drawing/2014/main" id="{E52F59A3-2205-CCE8-2480-CCFF1C998D78}"/>
                </a:ext>
              </a:extLst>
            </p:cNvPr>
            <p:cNvSpPr/>
            <p:nvPr/>
          </p:nvSpPr>
          <p:spPr>
            <a:xfrm>
              <a:off x="5935438" y="2174837"/>
              <a:ext cx="2012133" cy="1547457"/>
            </a:xfrm>
            <a:prstGeom prst="rect">
              <a:avLst/>
            </a:prstGeom>
            <a:noFill/>
            <a:ln/>
          </p:spPr>
          <p:txBody>
            <a:bodyPr wrap="square" rtlCol="0" anchor="t"/>
            <a:lstStyle/>
            <a:p>
              <a:pPr>
                <a:lnSpc>
                  <a:spcPct val="140000"/>
                </a:lnSpc>
              </a:pPr>
              <a:r>
                <a:rPr lang="en-US" sz="1100" dirty="0">
                  <a:solidFill>
                    <a:schemeClr val="accent3"/>
                  </a:solidFill>
                </a:rPr>
                <a:t>10,000 contracts × 10,000 scenarios in 28 seconds on GPU vs. 143 seconds on CPU — a 5× speedup. Insurance state-transition models achieve up to 30× speedup.</a:t>
              </a:r>
            </a:p>
          </p:txBody>
        </p:sp>
        <p:sp>
          <p:nvSpPr>
            <p:cNvPr id="15" name="Text 8">
              <a:extLst>
                <a:ext uri="{FF2B5EF4-FFF2-40B4-BE49-F238E27FC236}">
                  <a16:creationId xmlns:a16="http://schemas.microsoft.com/office/drawing/2014/main" id="{F59081B5-1BDB-3C7A-B89B-825C4A97597C}"/>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03</a:t>
              </a:r>
              <a:endParaRPr lang="en-US" sz="2800" dirty="0">
                <a:solidFill>
                  <a:schemeClr val="accent1"/>
                </a:solidFill>
              </a:endParaRPr>
            </a:p>
          </p:txBody>
        </p:sp>
      </p:grpSp>
      <p:grpSp>
        <p:nvGrpSpPr>
          <p:cNvPr id="16" name="Groep 15">
            <a:extLst>
              <a:ext uri="{FF2B5EF4-FFF2-40B4-BE49-F238E27FC236}">
                <a16:creationId xmlns:a16="http://schemas.microsoft.com/office/drawing/2014/main" id="{71AF748B-5EA1-09E0-F509-6B4E1E07C94C}"/>
              </a:ext>
            </a:extLst>
          </p:cNvPr>
          <p:cNvGrpSpPr/>
          <p:nvPr/>
        </p:nvGrpSpPr>
        <p:grpSpPr>
          <a:xfrm>
            <a:off x="3228997" y="1510329"/>
            <a:ext cx="2468880" cy="2122843"/>
            <a:chOff x="5853953" y="1717637"/>
            <a:chExt cx="2239922" cy="2194560"/>
          </a:xfrm>
        </p:grpSpPr>
        <p:sp>
          <p:nvSpPr>
            <p:cNvPr id="17" name="Shape 4">
              <a:extLst>
                <a:ext uri="{FF2B5EF4-FFF2-40B4-BE49-F238E27FC236}">
                  <a16:creationId xmlns:a16="http://schemas.microsoft.com/office/drawing/2014/main" id="{B64260CD-6AF5-31FC-3EA4-3AE97860196A}"/>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8" name="Shape 5">
              <a:extLst>
                <a:ext uri="{FF2B5EF4-FFF2-40B4-BE49-F238E27FC236}">
                  <a16:creationId xmlns:a16="http://schemas.microsoft.com/office/drawing/2014/main" id="{D019E820-B586-B2E0-FB20-FE0A98D30997}"/>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9" name="Text 6">
              <a:extLst>
                <a:ext uri="{FF2B5EF4-FFF2-40B4-BE49-F238E27FC236}">
                  <a16:creationId xmlns:a16="http://schemas.microsoft.com/office/drawing/2014/main" id="{568857D3-8693-878D-428A-E378D79348A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1.7× Faster</a:t>
              </a:r>
              <a:endParaRPr lang="en-US" sz="1400" dirty="0">
                <a:solidFill>
                  <a:schemeClr val="bg2"/>
                </a:solidFill>
              </a:endParaRPr>
            </a:p>
          </p:txBody>
        </p:sp>
        <p:sp>
          <p:nvSpPr>
            <p:cNvPr id="20" name="Text 7">
              <a:extLst>
                <a:ext uri="{FF2B5EF4-FFF2-40B4-BE49-F238E27FC236}">
                  <a16:creationId xmlns:a16="http://schemas.microsoft.com/office/drawing/2014/main" id="{DA0F05AD-6B8D-7C91-405C-B9B57BCF82E7}"/>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100" dirty="0">
                  <a:solidFill>
                    <a:schemeClr val="accent3"/>
                  </a:solidFill>
                </a:rPr>
                <a:t>GPU processes 100,000 PAM contracts in 8.3 s vs. 13.9 s on CPU — a 1.7× speedup. Hardware: mid-range NVIDIA RTX 3060 Ti. Results are better on data-centre GPUs.</a:t>
              </a:r>
            </a:p>
          </p:txBody>
        </p:sp>
        <p:sp>
          <p:nvSpPr>
            <p:cNvPr id="21" name="Text 8">
              <a:extLst>
                <a:ext uri="{FF2B5EF4-FFF2-40B4-BE49-F238E27FC236}">
                  <a16:creationId xmlns:a16="http://schemas.microsoft.com/office/drawing/2014/main" id="{8B0632BF-D510-734E-95C4-07EFB71AE2B7}"/>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02</a:t>
              </a:r>
              <a:endParaRPr lang="en-US" sz="2800" dirty="0">
                <a:solidFill>
                  <a:schemeClr val="accent1"/>
                </a:solidFill>
              </a:endParaRPr>
            </a:p>
          </p:txBody>
        </p:sp>
      </p:grpSp>
      <p:grpSp>
        <p:nvGrpSpPr>
          <p:cNvPr id="22" name="Groep 21">
            <a:extLst>
              <a:ext uri="{FF2B5EF4-FFF2-40B4-BE49-F238E27FC236}">
                <a16:creationId xmlns:a16="http://schemas.microsoft.com/office/drawing/2014/main" id="{A2D7E9C0-BD49-0E0A-FB76-3797012AF59C}"/>
              </a:ext>
            </a:extLst>
          </p:cNvPr>
          <p:cNvGrpSpPr/>
          <p:nvPr/>
        </p:nvGrpSpPr>
        <p:grpSpPr>
          <a:xfrm>
            <a:off x="747708" y="4247555"/>
            <a:ext cx="7442698" cy="347472"/>
            <a:chOff x="5303520" y="3447288"/>
            <a:chExt cx="3529584" cy="347472"/>
          </a:xfrm>
        </p:grpSpPr>
        <p:sp>
          <p:nvSpPr>
            <p:cNvPr id="23" name="Shape 19">
              <a:extLst>
                <a:ext uri="{FF2B5EF4-FFF2-40B4-BE49-F238E27FC236}">
                  <a16:creationId xmlns:a16="http://schemas.microsoft.com/office/drawing/2014/main" id="{FEF22AFC-11D0-4004-879F-688B71D599BB}"/>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24" name="Text 20">
              <a:extLst>
                <a:ext uri="{FF2B5EF4-FFF2-40B4-BE49-F238E27FC236}">
                  <a16:creationId xmlns:a16="http://schemas.microsoft.com/office/drawing/2014/main" id="{DDF3BF4A-1C63-95C7-A5A1-206668F70629}"/>
                </a:ext>
              </a:extLst>
            </p:cNvPr>
            <p:cNvSpPr/>
            <p:nvPr/>
          </p:nvSpPr>
          <p:spPr>
            <a:xfrm>
              <a:off x="5449824" y="3447288"/>
              <a:ext cx="3383280" cy="347472"/>
            </a:xfrm>
            <a:prstGeom prst="rect">
              <a:avLst/>
            </a:prstGeom>
            <a:noFill/>
            <a:ln/>
          </p:spPr>
          <p:txBody>
            <a:bodyPr wrap="square" rtlCol="0" anchor="ctr"/>
            <a:lstStyle/>
            <a:p>
              <a:r>
                <a:rPr lang="en-US" sz="1500" dirty="0">
                  <a:solidFill>
                    <a:schemeClr val="accent3"/>
                  </a:solidFill>
                </a:rPr>
                <a:t>Strategic Result </a:t>
              </a:r>
              <a:r>
                <a:rPr lang="en-US" sz="1500" b="1" dirty="0">
                  <a:solidFill>
                    <a:schemeClr val="accent3"/>
                  </a:solidFill>
                </a:rPr>
                <a:t>: Proven pathway to real-time institutional portfolio valuation — on standard desktop hardware.</a:t>
              </a:r>
            </a:p>
          </p:txBody>
        </p:sp>
      </p:grpSp>
    </p:spTree>
    <p:extLst>
      <p:ext uri="{BB962C8B-B14F-4D97-AF65-F5344CB8AC3E}">
        <p14:creationId xmlns:p14="http://schemas.microsoft.com/office/powerpoint/2010/main" val="731859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2B6075-F8EF-BB9E-3E97-63524797FF32}"/>
              </a:ext>
            </a:extLst>
          </p:cNvPr>
          <p:cNvSpPr>
            <a:spLocks noGrp="1"/>
          </p:cNvSpPr>
          <p:nvPr>
            <p:ph type="title"/>
          </p:nvPr>
        </p:nvSpPr>
        <p:spPr/>
        <p:txBody>
          <a:bodyPr/>
          <a:lstStyle/>
          <a:p>
            <a:r>
              <a:rPr lang="en-GB" dirty="0"/>
              <a:t>Insurance Extension</a:t>
            </a:r>
            <a:endParaRPr lang="en-NL" dirty="0"/>
          </a:p>
        </p:txBody>
      </p:sp>
      <p:sp>
        <p:nvSpPr>
          <p:cNvPr id="8" name="Tekstvak 7">
            <a:extLst>
              <a:ext uri="{FF2B5EF4-FFF2-40B4-BE49-F238E27FC236}">
                <a16:creationId xmlns:a16="http://schemas.microsoft.com/office/drawing/2014/main" id="{A747C7D7-477D-1A2F-A601-68D9CAB92875}"/>
              </a:ext>
            </a:extLst>
          </p:cNvPr>
          <p:cNvSpPr txBox="1"/>
          <p:nvPr/>
        </p:nvSpPr>
        <p:spPr>
          <a:xfrm>
            <a:off x="4377321" y="118729"/>
            <a:ext cx="4017532" cy="507831"/>
          </a:xfrm>
          <a:prstGeom prst="rect">
            <a:avLst/>
          </a:prstGeom>
          <a:noFill/>
        </p:spPr>
        <p:txBody>
          <a:bodyPr wrap="square">
            <a:spAutoFit/>
          </a:bodyPr>
          <a:lstStyle/>
          <a:p>
            <a:endParaRPr lang="en-US" sz="1350" dirty="0"/>
          </a:p>
        </p:txBody>
      </p:sp>
      <p:grpSp>
        <p:nvGrpSpPr>
          <p:cNvPr id="9" name="Groep 8">
            <a:extLst>
              <a:ext uri="{FF2B5EF4-FFF2-40B4-BE49-F238E27FC236}">
                <a16:creationId xmlns:a16="http://schemas.microsoft.com/office/drawing/2014/main" id="{51C5275E-B5C9-DC4D-D96D-5381EC6750D4}"/>
              </a:ext>
            </a:extLst>
          </p:cNvPr>
          <p:cNvGrpSpPr/>
          <p:nvPr/>
        </p:nvGrpSpPr>
        <p:grpSpPr>
          <a:xfrm>
            <a:off x="4326676" y="1127509"/>
            <a:ext cx="2098740" cy="1732488"/>
            <a:chOff x="5853953" y="1717637"/>
            <a:chExt cx="2239922" cy="2194560"/>
          </a:xfrm>
        </p:grpSpPr>
        <p:sp>
          <p:nvSpPr>
            <p:cNvPr id="10" name="Shape 4">
              <a:extLst>
                <a:ext uri="{FF2B5EF4-FFF2-40B4-BE49-F238E27FC236}">
                  <a16:creationId xmlns:a16="http://schemas.microsoft.com/office/drawing/2014/main" id="{200E0908-F065-55B4-C8AE-A46D08949D78}"/>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1" name="Shape 5">
              <a:extLst>
                <a:ext uri="{FF2B5EF4-FFF2-40B4-BE49-F238E27FC236}">
                  <a16:creationId xmlns:a16="http://schemas.microsoft.com/office/drawing/2014/main" id="{5DE56BDE-76D6-EF9D-E6BF-71F148F9BD6B}"/>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2" name="Text 6">
              <a:extLst>
                <a:ext uri="{FF2B5EF4-FFF2-40B4-BE49-F238E27FC236}">
                  <a16:creationId xmlns:a16="http://schemas.microsoft.com/office/drawing/2014/main" id="{1C8F99A8-D28F-89E4-F582-4495CC412BCA}"/>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State Machines</a:t>
              </a:r>
            </a:p>
          </p:txBody>
        </p:sp>
        <p:sp>
          <p:nvSpPr>
            <p:cNvPr id="13" name="Text 7">
              <a:extLst>
                <a:ext uri="{FF2B5EF4-FFF2-40B4-BE49-F238E27FC236}">
                  <a16:creationId xmlns:a16="http://schemas.microsoft.com/office/drawing/2014/main" id="{5CE60DD7-33F2-7CDD-BB8E-BB4A5F88B398}"/>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Insurance policies follow probabilistic paths — active, lapsed, claim pending, benefit paid. Instead of fixed routes, the highway uses state maps with actuarial probability tables.</a:t>
              </a:r>
            </a:p>
          </p:txBody>
        </p:sp>
        <p:sp>
          <p:nvSpPr>
            <p:cNvPr id="14" name="Text 8">
              <a:extLst>
                <a:ext uri="{FF2B5EF4-FFF2-40B4-BE49-F238E27FC236}">
                  <a16:creationId xmlns:a16="http://schemas.microsoft.com/office/drawing/2014/main" id="{3CB0FE64-4475-202D-F497-B2E4A8E21AAE}"/>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01</a:t>
              </a:r>
              <a:endParaRPr lang="en-US" sz="2400" dirty="0">
                <a:solidFill>
                  <a:schemeClr val="accent1"/>
                </a:solidFill>
              </a:endParaRPr>
            </a:p>
          </p:txBody>
        </p:sp>
      </p:grpSp>
      <p:grpSp>
        <p:nvGrpSpPr>
          <p:cNvPr id="15" name="Groep 14">
            <a:extLst>
              <a:ext uri="{FF2B5EF4-FFF2-40B4-BE49-F238E27FC236}">
                <a16:creationId xmlns:a16="http://schemas.microsoft.com/office/drawing/2014/main" id="{7C953152-C2A3-1E26-854E-AD02B59A234F}"/>
              </a:ext>
            </a:extLst>
          </p:cNvPr>
          <p:cNvGrpSpPr/>
          <p:nvPr/>
        </p:nvGrpSpPr>
        <p:grpSpPr>
          <a:xfrm>
            <a:off x="4326676" y="2975495"/>
            <a:ext cx="2098740" cy="1732488"/>
            <a:chOff x="5853953" y="1717637"/>
            <a:chExt cx="2239922" cy="2194560"/>
          </a:xfrm>
        </p:grpSpPr>
        <p:sp>
          <p:nvSpPr>
            <p:cNvPr id="16" name="Shape 4">
              <a:extLst>
                <a:ext uri="{FF2B5EF4-FFF2-40B4-BE49-F238E27FC236}">
                  <a16:creationId xmlns:a16="http://schemas.microsoft.com/office/drawing/2014/main" id="{19714F31-F00A-FFE0-FE33-DB1028262CFB}"/>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7" name="Shape 5">
              <a:extLst>
                <a:ext uri="{FF2B5EF4-FFF2-40B4-BE49-F238E27FC236}">
                  <a16:creationId xmlns:a16="http://schemas.microsoft.com/office/drawing/2014/main" id="{7DC078A5-2C58-3FFF-1D5D-89E6FD9FDA00}"/>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8" name="Text 6">
              <a:extLst>
                <a:ext uri="{FF2B5EF4-FFF2-40B4-BE49-F238E27FC236}">
                  <a16:creationId xmlns:a16="http://schemas.microsoft.com/office/drawing/2014/main" id="{4EA56DE3-74E8-3013-C82A-C66CCCB69476}"/>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Template Rules</a:t>
              </a:r>
            </a:p>
          </p:txBody>
        </p:sp>
        <p:sp>
          <p:nvSpPr>
            <p:cNvPr id="19" name="Text 7">
              <a:extLst>
                <a:ext uri="{FF2B5EF4-FFF2-40B4-BE49-F238E27FC236}">
                  <a16:creationId xmlns:a16="http://schemas.microsoft.com/office/drawing/2014/main" id="{FBFE2B09-DEA4-ED70-2D82-D920C27956D6}"/>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Product rules (premium formulas, claim eligibility, benefit calculations) are configurable templates. New insurance products launch without touching the highway itself.</a:t>
              </a:r>
            </a:p>
          </p:txBody>
        </p:sp>
        <p:sp>
          <p:nvSpPr>
            <p:cNvPr id="20" name="Text 8">
              <a:extLst>
                <a:ext uri="{FF2B5EF4-FFF2-40B4-BE49-F238E27FC236}">
                  <a16:creationId xmlns:a16="http://schemas.microsoft.com/office/drawing/2014/main" id="{33D4478A-5F92-B458-9C9E-6B73876EC5B3}"/>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03</a:t>
              </a:r>
              <a:endParaRPr lang="en-US" sz="2400" dirty="0">
                <a:solidFill>
                  <a:schemeClr val="accent1"/>
                </a:solidFill>
              </a:endParaRPr>
            </a:p>
          </p:txBody>
        </p:sp>
      </p:grpSp>
      <p:grpSp>
        <p:nvGrpSpPr>
          <p:cNvPr id="21" name="Groep 20">
            <a:extLst>
              <a:ext uri="{FF2B5EF4-FFF2-40B4-BE49-F238E27FC236}">
                <a16:creationId xmlns:a16="http://schemas.microsoft.com/office/drawing/2014/main" id="{71D6B59E-2332-8AAD-70D1-25A49CDCF723}"/>
              </a:ext>
            </a:extLst>
          </p:cNvPr>
          <p:cNvGrpSpPr/>
          <p:nvPr/>
        </p:nvGrpSpPr>
        <p:grpSpPr>
          <a:xfrm>
            <a:off x="6648347" y="1127509"/>
            <a:ext cx="2098740" cy="1732488"/>
            <a:chOff x="5853953" y="1717637"/>
            <a:chExt cx="2239922" cy="2194560"/>
          </a:xfrm>
        </p:grpSpPr>
        <p:sp>
          <p:nvSpPr>
            <p:cNvPr id="22" name="Shape 4">
              <a:extLst>
                <a:ext uri="{FF2B5EF4-FFF2-40B4-BE49-F238E27FC236}">
                  <a16:creationId xmlns:a16="http://schemas.microsoft.com/office/drawing/2014/main" id="{BA378B12-0052-2152-FB10-F8180283127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3" name="Shape 5">
              <a:extLst>
                <a:ext uri="{FF2B5EF4-FFF2-40B4-BE49-F238E27FC236}">
                  <a16:creationId xmlns:a16="http://schemas.microsoft.com/office/drawing/2014/main" id="{F47D767B-346A-DE8D-BB20-CED9DAEC4A2D}"/>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24" name="Text 6">
              <a:extLst>
                <a:ext uri="{FF2B5EF4-FFF2-40B4-BE49-F238E27FC236}">
                  <a16:creationId xmlns:a16="http://schemas.microsoft.com/office/drawing/2014/main" id="{E2DE7F1B-EB0C-C77D-B911-D3AFE7A44552}"/>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Expected Values</a:t>
              </a:r>
            </a:p>
          </p:txBody>
        </p:sp>
        <p:sp>
          <p:nvSpPr>
            <p:cNvPr id="25" name="Text 7">
              <a:extLst>
                <a:ext uri="{FF2B5EF4-FFF2-40B4-BE49-F238E27FC236}">
                  <a16:creationId xmlns:a16="http://schemas.microsoft.com/office/drawing/2014/main" id="{16C58CBB-E7CC-B0F2-4A35-9D5EE2FC521E}"/>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At each checkpoint, the GPU computes probability-weighted cash flows across all possible state transitions. The result is deterministic — same inputs, same expected outputs.</a:t>
              </a:r>
            </a:p>
          </p:txBody>
        </p:sp>
        <p:sp>
          <p:nvSpPr>
            <p:cNvPr id="26" name="Text 8">
              <a:extLst>
                <a:ext uri="{FF2B5EF4-FFF2-40B4-BE49-F238E27FC236}">
                  <a16:creationId xmlns:a16="http://schemas.microsoft.com/office/drawing/2014/main" id="{DF8BD351-595A-5E84-28D4-0D71BD986961}"/>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02</a:t>
              </a:r>
              <a:endParaRPr lang="en-US" sz="2400" dirty="0">
                <a:solidFill>
                  <a:schemeClr val="accent1"/>
                </a:solidFill>
              </a:endParaRPr>
            </a:p>
          </p:txBody>
        </p:sp>
      </p:grpSp>
      <p:grpSp>
        <p:nvGrpSpPr>
          <p:cNvPr id="27" name="Groep 26">
            <a:extLst>
              <a:ext uri="{FF2B5EF4-FFF2-40B4-BE49-F238E27FC236}">
                <a16:creationId xmlns:a16="http://schemas.microsoft.com/office/drawing/2014/main" id="{65180AD8-6885-BEE1-0F97-3905BBB09FDF}"/>
              </a:ext>
            </a:extLst>
          </p:cNvPr>
          <p:cNvGrpSpPr/>
          <p:nvPr/>
        </p:nvGrpSpPr>
        <p:grpSpPr>
          <a:xfrm>
            <a:off x="6648347" y="2975495"/>
            <a:ext cx="2098740" cy="1732488"/>
            <a:chOff x="5853953" y="1717637"/>
            <a:chExt cx="2239922" cy="2194560"/>
          </a:xfrm>
        </p:grpSpPr>
        <p:sp>
          <p:nvSpPr>
            <p:cNvPr id="28" name="Shape 4">
              <a:extLst>
                <a:ext uri="{FF2B5EF4-FFF2-40B4-BE49-F238E27FC236}">
                  <a16:creationId xmlns:a16="http://schemas.microsoft.com/office/drawing/2014/main" id="{B7478B08-8F47-F3D1-B64C-240CC067108E}"/>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9" name="Shape 5">
              <a:extLst>
                <a:ext uri="{FF2B5EF4-FFF2-40B4-BE49-F238E27FC236}">
                  <a16:creationId xmlns:a16="http://schemas.microsoft.com/office/drawing/2014/main" id="{B9C17839-094E-8594-518D-91712C20A508}"/>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30" name="Text 6">
              <a:extLst>
                <a:ext uri="{FF2B5EF4-FFF2-40B4-BE49-F238E27FC236}">
                  <a16:creationId xmlns:a16="http://schemas.microsoft.com/office/drawing/2014/main" id="{AA745432-2CFF-EE4F-5627-006262730579}"/>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Actuarial Tables</a:t>
              </a:r>
            </a:p>
          </p:txBody>
        </p:sp>
        <p:sp>
          <p:nvSpPr>
            <p:cNvPr id="31" name="Text 7">
              <a:extLst>
                <a:ext uri="{FF2B5EF4-FFF2-40B4-BE49-F238E27FC236}">
                  <a16:creationId xmlns:a16="http://schemas.microsoft.com/office/drawing/2014/main" id="{55419DDD-611D-50AF-570C-5708A14D0422}"/>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Mortality rates, lapse rates, and disability rates are loaded as lookup tables. The GPU reads them efficiently during parallel execution — no bottleneck.</a:t>
              </a:r>
            </a:p>
          </p:txBody>
        </p:sp>
        <p:sp>
          <p:nvSpPr>
            <p:cNvPr id="32" name="Text 8">
              <a:extLst>
                <a:ext uri="{FF2B5EF4-FFF2-40B4-BE49-F238E27FC236}">
                  <a16:creationId xmlns:a16="http://schemas.microsoft.com/office/drawing/2014/main" id="{DEB4390F-34B0-FE2C-E373-C3647D1A11E7}"/>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04</a:t>
              </a:r>
              <a:endParaRPr lang="en-US" sz="2400" dirty="0">
                <a:solidFill>
                  <a:schemeClr val="accent1"/>
                </a:solidFill>
              </a:endParaRPr>
            </a:p>
          </p:txBody>
        </p:sp>
      </p:grpSp>
      <p:sp>
        <p:nvSpPr>
          <p:cNvPr id="34" name="Tekstvak 33">
            <a:extLst>
              <a:ext uri="{FF2B5EF4-FFF2-40B4-BE49-F238E27FC236}">
                <a16:creationId xmlns:a16="http://schemas.microsoft.com/office/drawing/2014/main" id="{32D872B8-8E3D-4605-665D-4756A56C32E5}"/>
              </a:ext>
            </a:extLst>
          </p:cNvPr>
          <p:cNvSpPr txBox="1"/>
          <p:nvPr/>
        </p:nvSpPr>
        <p:spPr>
          <a:xfrm>
            <a:off x="380176" y="1290666"/>
            <a:ext cx="3386699" cy="2531462"/>
          </a:xfrm>
          <a:prstGeom prst="rect">
            <a:avLst/>
          </a:prstGeom>
          <a:noFill/>
        </p:spPr>
        <p:txBody>
          <a:bodyPr wrap="square">
            <a:spAutoFit/>
          </a:bodyPr>
          <a:lstStyle/>
          <a:p>
            <a:pPr>
              <a:spcAft>
                <a:spcPts val="900"/>
              </a:spcAft>
            </a:pPr>
            <a:r>
              <a:rPr lang="en-US" sz="1350" b="1" cap="all" dirty="0">
                <a:solidFill>
                  <a:schemeClr val="accent3"/>
                </a:solidFill>
              </a:rPr>
              <a:t>Insurance</a:t>
            </a:r>
          </a:p>
          <a:p>
            <a:pPr>
              <a:spcAft>
                <a:spcPts val="338"/>
              </a:spcAft>
            </a:pPr>
            <a:r>
              <a:rPr lang="en-US" sz="1350" b="1" dirty="0">
                <a:solidFill>
                  <a:schemeClr val="accent1"/>
                </a:solidFill>
              </a:rPr>
              <a:t>New</a:t>
            </a:r>
            <a:br>
              <a:rPr lang="en-US" sz="1350" dirty="0">
                <a:solidFill>
                  <a:srgbClr val="8A9BB0"/>
                </a:solidFill>
              </a:rPr>
            </a:br>
            <a:endParaRPr lang="en-US" sz="1350" dirty="0">
              <a:solidFill>
                <a:srgbClr val="8A9BB0"/>
              </a:solidFill>
            </a:endParaRPr>
          </a:p>
          <a:p>
            <a:pPr algn="l">
              <a:buNone/>
            </a:pPr>
            <a:r>
              <a:rPr lang="en-US" sz="1350" dirty="0">
                <a:solidFill>
                  <a:schemeClr val="accent3"/>
                </a:solidFill>
              </a:rPr>
              <a:t>Banking contracts follow fixed schedules. Insurance policies follow probabilistic state maps. The highway was extended to handle both — with the same deterministic guarantee.</a:t>
            </a:r>
          </a:p>
        </p:txBody>
      </p:sp>
    </p:spTree>
    <p:extLst>
      <p:ext uri="{BB962C8B-B14F-4D97-AF65-F5344CB8AC3E}">
        <p14:creationId xmlns:p14="http://schemas.microsoft.com/office/powerpoint/2010/main" val="1198592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18C27A0B-0C02-06E3-8389-9C46C1C0C084}"/>
              </a:ext>
            </a:extLst>
          </p:cNvPr>
          <p:cNvPicPr>
            <a:picLocks noChangeAspect="1"/>
          </p:cNvPicPr>
          <p:nvPr/>
        </p:nvPicPr>
        <p:blipFill>
          <a:blip r:embed="rId2">
            <a:alphaModFix amt="30000"/>
          </a:blip>
          <a:stretch>
            <a:fillRect/>
          </a:stretch>
        </p:blipFill>
        <p:spPr>
          <a:xfrm>
            <a:off x="1211580" y="1177290"/>
            <a:ext cx="4572000" cy="5143500"/>
          </a:xfrm>
          <a:prstGeom prst="rect">
            <a:avLst/>
          </a:prstGeom>
        </p:spPr>
      </p:pic>
      <p:pic>
        <p:nvPicPr>
          <p:cNvPr id="4" name="Image 1" descr="preencoded.png">
            <a:extLst>
              <a:ext uri="{FF2B5EF4-FFF2-40B4-BE49-F238E27FC236}">
                <a16:creationId xmlns:a16="http://schemas.microsoft.com/office/drawing/2014/main" id="{D281011A-2BB8-39AD-D89E-DB95E090AD24}"/>
              </a:ext>
            </a:extLst>
          </p:cNvPr>
          <p:cNvPicPr>
            <a:picLocks noChangeAspect="1"/>
          </p:cNvPicPr>
          <p:nvPr/>
        </p:nvPicPr>
        <p:blipFill>
          <a:blip r:embed="rId2">
            <a:alphaModFix amt="30000"/>
          </a:blip>
          <a:stretch>
            <a:fillRect/>
          </a:stretch>
        </p:blipFill>
        <p:spPr>
          <a:xfrm>
            <a:off x="5486400" y="0"/>
            <a:ext cx="4572000" cy="5143500"/>
          </a:xfrm>
          <a:prstGeom prst="rect">
            <a:avLst/>
          </a:prstGeom>
        </p:spPr>
      </p:pic>
      <p:sp>
        <p:nvSpPr>
          <p:cNvPr id="8" name="Text 2">
            <a:extLst>
              <a:ext uri="{FF2B5EF4-FFF2-40B4-BE49-F238E27FC236}">
                <a16:creationId xmlns:a16="http://schemas.microsoft.com/office/drawing/2014/main" id="{6F230E1A-1BDC-726D-C667-32B84A502E48}"/>
              </a:ext>
            </a:extLst>
          </p:cNvPr>
          <p:cNvSpPr/>
          <p:nvPr/>
        </p:nvSpPr>
        <p:spPr>
          <a:xfrm>
            <a:off x="1371600" y="1389888"/>
            <a:ext cx="6400800" cy="365760"/>
          </a:xfrm>
          <a:prstGeom prst="rect">
            <a:avLst/>
          </a:prstGeom>
          <a:noFill/>
          <a:ln/>
        </p:spPr>
        <p:txBody>
          <a:bodyPr wrap="square" rtlCol="0" anchor="ctr"/>
          <a:lstStyle/>
          <a:p>
            <a:pPr marL="0" indent="0" algn="ctr">
              <a:buNone/>
            </a:pPr>
            <a:r>
              <a:rPr lang="en-US" sz="1400" b="1" kern="0" spc="800" dirty="0">
                <a:solidFill>
                  <a:srgbClr val="FFFFFF"/>
                </a:solidFill>
                <a:latin typeface="Trebuchet MS" pitchFamily="34" charset="0"/>
                <a:ea typeface="Trebuchet MS" pitchFamily="34" charset="-122"/>
                <a:cs typeface="Trebuchet MS" pitchFamily="34" charset="-120"/>
              </a:rPr>
              <a:t>From Hackathon to Highway</a:t>
            </a:r>
            <a:endParaRPr lang="en-US" sz="1400" dirty="0"/>
          </a:p>
        </p:txBody>
      </p:sp>
      <p:sp>
        <p:nvSpPr>
          <p:cNvPr id="9" name="Text 3">
            <a:extLst>
              <a:ext uri="{FF2B5EF4-FFF2-40B4-BE49-F238E27FC236}">
                <a16:creationId xmlns:a16="http://schemas.microsoft.com/office/drawing/2014/main" id="{E5E987AC-6A42-B432-2E05-91FF5928855C}"/>
              </a:ext>
            </a:extLst>
          </p:cNvPr>
          <p:cNvSpPr/>
          <p:nvPr/>
        </p:nvSpPr>
        <p:spPr>
          <a:xfrm>
            <a:off x="1371600" y="1737360"/>
            <a:ext cx="6400800" cy="274320"/>
          </a:xfrm>
          <a:prstGeom prst="rect">
            <a:avLst/>
          </a:prstGeom>
          <a:noFill/>
          <a:ln/>
        </p:spPr>
        <p:txBody>
          <a:bodyPr wrap="square" rtlCol="0" anchor="ctr"/>
          <a:lstStyle/>
          <a:p>
            <a:pPr marL="0" indent="0" algn="ctr">
              <a:buNone/>
            </a:pPr>
            <a:r>
              <a:rPr lang="en-US" sz="1100" dirty="0">
                <a:solidFill>
                  <a:srgbClr val="8FAAB8"/>
                </a:solidFill>
                <a:latin typeface="13" pitchFamily="34" charset="0"/>
                <a:ea typeface="13" pitchFamily="34" charset="-122"/>
                <a:cs typeface="13" pitchFamily="34" charset="-120"/>
              </a:rPr>
              <a:t>ACTUS GPU Engine — March 2026</a:t>
            </a:r>
            <a:endParaRPr lang="en-US" sz="1100" dirty="0"/>
          </a:p>
        </p:txBody>
      </p:sp>
      <p:sp>
        <p:nvSpPr>
          <p:cNvPr id="10" name="Shape 4">
            <a:extLst>
              <a:ext uri="{FF2B5EF4-FFF2-40B4-BE49-F238E27FC236}">
                <a16:creationId xmlns:a16="http://schemas.microsoft.com/office/drawing/2014/main" id="{A4DA419C-0703-8097-ECD7-9AB6C21780DC}"/>
              </a:ext>
            </a:extLst>
          </p:cNvPr>
          <p:cNvSpPr/>
          <p:nvPr/>
        </p:nvSpPr>
        <p:spPr>
          <a:xfrm>
            <a:off x="3200400" y="2121408"/>
            <a:ext cx="2743200" cy="27432"/>
          </a:xfrm>
          <a:prstGeom prst="rect">
            <a:avLst/>
          </a:prstGeom>
          <a:solidFill>
            <a:srgbClr val="D4891A"/>
          </a:solidFill>
          <a:ln/>
        </p:spPr>
        <p:txBody>
          <a:bodyPr/>
          <a:lstStyle/>
          <a:p>
            <a:endParaRPr lang="en-NL"/>
          </a:p>
        </p:txBody>
      </p:sp>
      <p:sp>
        <p:nvSpPr>
          <p:cNvPr id="11" name="Text 5">
            <a:extLst>
              <a:ext uri="{FF2B5EF4-FFF2-40B4-BE49-F238E27FC236}">
                <a16:creationId xmlns:a16="http://schemas.microsoft.com/office/drawing/2014/main" id="{AE84FDCB-0DFB-9165-7B84-A227942EECC4}"/>
              </a:ext>
            </a:extLst>
          </p:cNvPr>
          <p:cNvSpPr/>
          <p:nvPr/>
        </p:nvSpPr>
        <p:spPr>
          <a:xfrm>
            <a:off x="4343400" y="1975104"/>
            <a:ext cx="457200" cy="457200"/>
          </a:xfrm>
          <a:prstGeom prst="rect">
            <a:avLst/>
          </a:prstGeom>
          <a:noFill/>
          <a:ln/>
        </p:spPr>
        <p:txBody>
          <a:bodyPr wrap="square" rtlCol="0" anchor="ctr"/>
          <a:lstStyle/>
          <a:p>
            <a:pPr marL="0" indent="0" algn="ctr">
              <a:buNone/>
            </a:pPr>
            <a:r>
              <a:rPr lang="en-US" sz="1600" dirty="0">
                <a:solidFill>
                  <a:srgbClr val="D4891A"/>
                </a:solidFill>
              </a:rPr>
              <a:t>◆</a:t>
            </a:r>
            <a:endParaRPr lang="en-US" sz="1600" dirty="0"/>
          </a:p>
        </p:txBody>
      </p:sp>
      <p:sp>
        <p:nvSpPr>
          <p:cNvPr id="12" name="Text 6">
            <a:extLst>
              <a:ext uri="{FF2B5EF4-FFF2-40B4-BE49-F238E27FC236}">
                <a16:creationId xmlns:a16="http://schemas.microsoft.com/office/drawing/2014/main" id="{7F3A4BAB-C0CF-1A4D-E123-734DAEDFE5C6}"/>
              </a:ext>
            </a:extLst>
          </p:cNvPr>
          <p:cNvSpPr/>
          <p:nvPr/>
        </p:nvSpPr>
        <p:spPr>
          <a:xfrm>
            <a:off x="914400" y="2231136"/>
            <a:ext cx="7315200" cy="411480"/>
          </a:xfrm>
          <a:prstGeom prst="rect">
            <a:avLst/>
          </a:prstGeom>
          <a:noFill/>
          <a:ln/>
        </p:spPr>
        <p:txBody>
          <a:bodyPr wrap="square" rtlCol="0" anchor="ctr"/>
          <a:lstStyle/>
          <a:p>
            <a:pPr marL="0" indent="0" algn="ctr">
              <a:buNone/>
            </a:pPr>
            <a:r>
              <a:rPr lang="en-US" sz="1600" kern="0" spc="200" dirty="0">
                <a:solidFill>
                  <a:srgbClr val="8FAAB8"/>
                </a:solidFill>
                <a:latin typeface="Trebuchet MS" pitchFamily="34" charset="0"/>
                <a:ea typeface="Trebuchet MS" pitchFamily="34" charset="-122"/>
                <a:cs typeface="Trebuchet MS" pitchFamily="34" charset="-120"/>
              </a:rPr>
              <a:t>A Proven Foundation for Scale</a:t>
            </a:r>
            <a:endParaRPr lang="en-US" sz="1600" dirty="0"/>
          </a:p>
        </p:txBody>
      </p:sp>
      <p:sp>
        <p:nvSpPr>
          <p:cNvPr id="13" name="Text 7">
            <a:extLst>
              <a:ext uri="{FF2B5EF4-FFF2-40B4-BE49-F238E27FC236}">
                <a16:creationId xmlns:a16="http://schemas.microsoft.com/office/drawing/2014/main" id="{B0460D88-B563-C573-057C-5660A0D87263}"/>
              </a:ext>
            </a:extLst>
          </p:cNvPr>
          <p:cNvSpPr/>
          <p:nvPr/>
        </p:nvSpPr>
        <p:spPr>
          <a:xfrm>
            <a:off x="457200" y="2633472"/>
            <a:ext cx="8229600" cy="548640"/>
          </a:xfrm>
          <a:prstGeom prst="rect">
            <a:avLst/>
          </a:prstGeom>
          <a:noFill/>
          <a:ln/>
        </p:spPr>
        <p:txBody>
          <a:bodyPr wrap="square"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Deterministic. Parallel. Standard.</a:t>
            </a:r>
            <a:endParaRPr lang="en-US" sz="2800" dirty="0"/>
          </a:p>
        </p:txBody>
      </p:sp>
      <p:sp>
        <p:nvSpPr>
          <p:cNvPr id="14" name="Shape 8">
            <a:extLst>
              <a:ext uri="{FF2B5EF4-FFF2-40B4-BE49-F238E27FC236}">
                <a16:creationId xmlns:a16="http://schemas.microsoft.com/office/drawing/2014/main" id="{24D6EBF7-4493-463F-02D2-43F4DF600C6E}"/>
              </a:ext>
            </a:extLst>
          </p:cNvPr>
          <p:cNvSpPr/>
          <p:nvPr/>
        </p:nvSpPr>
        <p:spPr>
          <a:xfrm>
            <a:off x="548640" y="3291840"/>
            <a:ext cx="2468880" cy="1234440"/>
          </a:xfrm>
          <a:prstGeom prst="rect">
            <a:avLst/>
          </a:prstGeom>
          <a:solidFill>
            <a:srgbClr val="243344"/>
          </a:solidFill>
          <a:ln/>
          <a:effectLst>
            <a:outerShdw blurRad="127000" dist="38100" dir="8100000" algn="bl" rotWithShape="0">
              <a:srgbClr val="000000">
                <a:alpha val="12000"/>
              </a:srgbClr>
            </a:outerShdw>
          </a:effectLst>
        </p:spPr>
        <p:txBody>
          <a:bodyPr/>
          <a:lstStyle/>
          <a:p>
            <a:endParaRPr lang="en-NL"/>
          </a:p>
        </p:txBody>
      </p:sp>
      <p:sp>
        <p:nvSpPr>
          <p:cNvPr id="15" name="Shape 9">
            <a:extLst>
              <a:ext uri="{FF2B5EF4-FFF2-40B4-BE49-F238E27FC236}">
                <a16:creationId xmlns:a16="http://schemas.microsoft.com/office/drawing/2014/main" id="{92878CDC-D715-24DE-3733-792C88F1F49A}"/>
              </a:ext>
            </a:extLst>
          </p:cNvPr>
          <p:cNvSpPr/>
          <p:nvPr/>
        </p:nvSpPr>
        <p:spPr>
          <a:xfrm>
            <a:off x="548640" y="3291840"/>
            <a:ext cx="2468880" cy="36576"/>
          </a:xfrm>
          <a:prstGeom prst="rect">
            <a:avLst/>
          </a:prstGeom>
          <a:solidFill>
            <a:srgbClr val="D4891A"/>
          </a:solidFill>
          <a:ln/>
        </p:spPr>
        <p:txBody>
          <a:bodyPr/>
          <a:lstStyle/>
          <a:p>
            <a:endParaRPr lang="en-NL"/>
          </a:p>
        </p:txBody>
      </p:sp>
      <p:sp>
        <p:nvSpPr>
          <p:cNvPr id="16" name="Text 10">
            <a:extLst>
              <a:ext uri="{FF2B5EF4-FFF2-40B4-BE49-F238E27FC236}">
                <a16:creationId xmlns:a16="http://schemas.microsoft.com/office/drawing/2014/main" id="{DB2B88BA-D61D-8F0A-AB8F-3A280DD5FC20}"/>
              </a:ext>
            </a:extLst>
          </p:cNvPr>
          <p:cNvSpPr/>
          <p:nvPr/>
        </p:nvSpPr>
        <p:spPr>
          <a:xfrm>
            <a:off x="548640" y="3401568"/>
            <a:ext cx="2468880" cy="347472"/>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42 / 42</a:t>
            </a:r>
            <a:endParaRPr lang="en-US" sz="1400" dirty="0"/>
          </a:p>
        </p:txBody>
      </p:sp>
      <p:sp>
        <p:nvSpPr>
          <p:cNvPr id="17" name="Text 11">
            <a:extLst>
              <a:ext uri="{FF2B5EF4-FFF2-40B4-BE49-F238E27FC236}">
                <a16:creationId xmlns:a16="http://schemas.microsoft.com/office/drawing/2014/main" id="{C99082C7-B8CD-7C0E-697E-A4D20FD2C62B}"/>
              </a:ext>
            </a:extLst>
          </p:cNvPr>
          <p:cNvSpPr/>
          <p:nvPr/>
        </p:nvSpPr>
        <p:spPr>
          <a:xfrm>
            <a:off x="640080" y="3794760"/>
            <a:ext cx="2286000" cy="594360"/>
          </a:xfrm>
          <a:prstGeom prst="rect">
            <a:avLst/>
          </a:prstGeom>
          <a:noFill/>
          <a:ln/>
        </p:spPr>
        <p:txBody>
          <a:bodyPr wrap="square" rtlCol="0" anchor="ctr"/>
          <a:lstStyle/>
          <a:p>
            <a:pPr marL="0" indent="0" algn="ctr">
              <a:lnSpc>
                <a:spcPct val="130000"/>
              </a:lnSpc>
              <a:buNone/>
            </a:pPr>
            <a:r>
              <a:rPr lang="en-US" sz="1000" dirty="0">
                <a:solidFill>
                  <a:srgbClr val="8FAAB8"/>
                </a:solidFill>
              </a:rPr>
              <a:t>Official ACTUS tests pass</a:t>
            </a:r>
            <a:endParaRPr lang="en-US" sz="1000" dirty="0"/>
          </a:p>
        </p:txBody>
      </p:sp>
      <p:sp>
        <p:nvSpPr>
          <p:cNvPr id="18" name="Shape 12">
            <a:extLst>
              <a:ext uri="{FF2B5EF4-FFF2-40B4-BE49-F238E27FC236}">
                <a16:creationId xmlns:a16="http://schemas.microsoft.com/office/drawing/2014/main" id="{46CAE48C-4FA7-4ACB-2022-D37697A554F4}"/>
              </a:ext>
            </a:extLst>
          </p:cNvPr>
          <p:cNvSpPr/>
          <p:nvPr/>
        </p:nvSpPr>
        <p:spPr>
          <a:xfrm>
            <a:off x="3291840" y="3291840"/>
            <a:ext cx="2468880" cy="1234440"/>
          </a:xfrm>
          <a:prstGeom prst="rect">
            <a:avLst/>
          </a:prstGeom>
          <a:solidFill>
            <a:srgbClr val="243344"/>
          </a:solidFill>
          <a:ln/>
          <a:effectLst>
            <a:outerShdw blurRad="127000" dist="38100" dir="8100000" algn="bl" rotWithShape="0">
              <a:srgbClr val="000000">
                <a:alpha val="12000"/>
              </a:srgbClr>
            </a:outerShdw>
          </a:effectLst>
        </p:spPr>
        <p:txBody>
          <a:bodyPr/>
          <a:lstStyle/>
          <a:p>
            <a:endParaRPr lang="en-NL"/>
          </a:p>
        </p:txBody>
      </p:sp>
      <p:sp>
        <p:nvSpPr>
          <p:cNvPr id="19" name="Shape 13">
            <a:extLst>
              <a:ext uri="{FF2B5EF4-FFF2-40B4-BE49-F238E27FC236}">
                <a16:creationId xmlns:a16="http://schemas.microsoft.com/office/drawing/2014/main" id="{97DE65D1-2961-D7DF-293E-4BE9A931D89E}"/>
              </a:ext>
            </a:extLst>
          </p:cNvPr>
          <p:cNvSpPr/>
          <p:nvPr/>
        </p:nvSpPr>
        <p:spPr>
          <a:xfrm>
            <a:off x="3291840" y="3291840"/>
            <a:ext cx="2468880" cy="36576"/>
          </a:xfrm>
          <a:prstGeom prst="rect">
            <a:avLst/>
          </a:prstGeom>
          <a:solidFill>
            <a:srgbClr val="D4891A"/>
          </a:solidFill>
          <a:ln/>
        </p:spPr>
        <p:txBody>
          <a:bodyPr/>
          <a:lstStyle/>
          <a:p>
            <a:endParaRPr lang="en-NL"/>
          </a:p>
        </p:txBody>
      </p:sp>
      <p:sp>
        <p:nvSpPr>
          <p:cNvPr id="20" name="Text 14">
            <a:extLst>
              <a:ext uri="{FF2B5EF4-FFF2-40B4-BE49-F238E27FC236}">
                <a16:creationId xmlns:a16="http://schemas.microsoft.com/office/drawing/2014/main" id="{CD80A2E0-5F54-F50E-043F-9497E97F8FD3}"/>
              </a:ext>
            </a:extLst>
          </p:cNvPr>
          <p:cNvSpPr/>
          <p:nvPr/>
        </p:nvSpPr>
        <p:spPr>
          <a:xfrm>
            <a:off x="3291840" y="3401568"/>
            <a:ext cx="2468880" cy="347472"/>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1.7× – 30×</a:t>
            </a:r>
            <a:endParaRPr lang="en-US" sz="1400" dirty="0"/>
          </a:p>
        </p:txBody>
      </p:sp>
      <p:sp>
        <p:nvSpPr>
          <p:cNvPr id="21" name="Text 15">
            <a:extLst>
              <a:ext uri="{FF2B5EF4-FFF2-40B4-BE49-F238E27FC236}">
                <a16:creationId xmlns:a16="http://schemas.microsoft.com/office/drawing/2014/main" id="{8B096667-88B5-F075-D70C-653B6CFC4E41}"/>
              </a:ext>
            </a:extLst>
          </p:cNvPr>
          <p:cNvSpPr/>
          <p:nvPr/>
        </p:nvSpPr>
        <p:spPr>
          <a:xfrm>
            <a:off x="3383280" y="3794760"/>
            <a:ext cx="2286000" cy="594360"/>
          </a:xfrm>
          <a:prstGeom prst="rect">
            <a:avLst/>
          </a:prstGeom>
          <a:noFill/>
          <a:ln/>
        </p:spPr>
        <p:txBody>
          <a:bodyPr wrap="square" rtlCol="0" anchor="ctr"/>
          <a:lstStyle/>
          <a:p>
            <a:pPr marL="0" indent="0" algn="ctr">
              <a:lnSpc>
                <a:spcPct val="130000"/>
              </a:lnSpc>
              <a:buNone/>
            </a:pPr>
            <a:r>
              <a:rPr lang="en-US" sz="1000" dirty="0">
                <a:solidFill>
                  <a:srgbClr val="8FAAB8"/>
                </a:solidFill>
              </a:rPr>
              <a:t>Faster than CPU at scale</a:t>
            </a:r>
            <a:endParaRPr lang="en-US" sz="1000" dirty="0"/>
          </a:p>
        </p:txBody>
      </p:sp>
      <p:sp>
        <p:nvSpPr>
          <p:cNvPr id="22" name="Shape 16">
            <a:extLst>
              <a:ext uri="{FF2B5EF4-FFF2-40B4-BE49-F238E27FC236}">
                <a16:creationId xmlns:a16="http://schemas.microsoft.com/office/drawing/2014/main" id="{4D109087-B100-8A0C-40BE-E9C51BE6E3B9}"/>
              </a:ext>
            </a:extLst>
          </p:cNvPr>
          <p:cNvSpPr/>
          <p:nvPr/>
        </p:nvSpPr>
        <p:spPr>
          <a:xfrm>
            <a:off x="6035040" y="3291840"/>
            <a:ext cx="2468880" cy="1234440"/>
          </a:xfrm>
          <a:prstGeom prst="rect">
            <a:avLst/>
          </a:prstGeom>
          <a:solidFill>
            <a:srgbClr val="243344"/>
          </a:solidFill>
          <a:ln/>
          <a:effectLst>
            <a:outerShdw blurRad="127000" dist="38100" dir="8100000" algn="bl" rotWithShape="0">
              <a:srgbClr val="000000">
                <a:alpha val="12000"/>
              </a:srgbClr>
            </a:outerShdw>
          </a:effectLst>
        </p:spPr>
        <p:txBody>
          <a:bodyPr/>
          <a:lstStyle/>
          <a:p>
            <a:endParaRPr lang="en-NL"/>
          </a:p>
        </p:txBody>
      </p:sp>
      <p:sp>
        <p:nvSpPr>
          <p:cNvPr id="23" name="Shape 17">
            <a:extLst>
              <a:ext uri="{FF2B5EF4-FFF2-40B4-BE49-F238E27FC236}">
                <a16:creationId xmlns:a16="http://schemas.microsoft.com/office/drawing/2014/main" id="{22635E81-05DF-AF49-2B95-D90D7B9EA59E}"/>
              </a:ext>
            </a:extLst>
          </p:cNvPr>
          <p:cNvSpPr/>
          <p:nvPr/>
        </p:nvSpPr>
        <p:spPr>
          <a:xfrm>
            <a:off x="6035040" y="3291840"/>
            <a:ext cx="2468880" cy="36576"/>
          </a:xfrm>
          <a:prstGeom prst="rect">
            <a:avLst/>
          </a:prstGeom>
          <a:solidFill>
            <a:srgbClr val="D4891A"/>
          </a:solidFill>
          <a:ln/>
        </p:spPr>
        <p:txBody>
          <a:bodyPr/>
          <a:lstStyle/>
          <a:p>
            <a:endParaRPr lang="en-NL"/>
          </a:p>
        </p:txBody>
      </p:sp>
      <p:sp>
        <p:nvSpPr>
          <p:cNvPr id="24" name="Text 18">
            <a:extLst>
              <a:ext uri="{FF2B5EF4-FFF2-40B4-BE49-F238E27FC236}">
                <a16:creationId xmlns:a16="http://schemas.microsoft.com/office/drawing/2014/main" id="{C0D1D683-054E-C508-CD65-CD9D4905FFB9}"/>
              </a:ext>
            </a:extLst>
          </p:cNvPr>
          <p:cNvSpPr/>
          <p:nvPr/>
        </p:nvSpPr>
        <p:spPr>
          <a:xfrm>
            <a:off x="6035040" y="3401568"/>
            <a:ext cx="2468880" cy="347472"/>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100M Runs</a:t>
            </a:r>
            <a:endParaRPr lang="en-US" sz="1400" dirty="0"/>
          </a:p>
        </p:txBody>
      </p:sp>
      <p:sp>
        <p:nvSpPr>
          <p:cNvPr id="25" name="Text 19">
            <a:extLst>
              <a:ext uri="{FF2B5EF4-FFF2-40B4-BE49-F238E27FC236}">
                <a16:creationId xmlns:a16="http://schemas.microsoft.com/office/drawing/2014/main" id="{C92DBA8C-6074-C8BC-D0DF-BE827DE045E9}"/>
              </a:ext>
            </a:extLst>
          </p:cNvPr>
          <p:cNvSpPr/>
          <p:nvPr/>
        </p:nvSpPr>
        <p:spPr>
          <a:xfrm>
            <a:off x="6126480" y="3794760"/>
            <a:ext cx="2286000" cy="594360"/>
          </a:xfrm>
          <a:prstGeom prst="rect">
            <a:avLst/>
          </a:prstGeom>
          <a:noFill/>
          <a:ln/>
        </p:spPr>
        <p:txBody>
          <a:bodyPr wrap="square" rtlCol="0" anchor="ctr"/>
          <a:lstStyle/>
          <a:p>
            <a:pPr marL="0" indent="0" algn="ctr">
              <a:lnSpc>
                <a:spcPct val="130000"/>
              </a:lnSpc>
              <a:buNone/>
            </a:pPr>
            <a:r>
              <a:rPr lang="en-US" sz="1000" dirty="0">
                <a:solidFill>
                  <a:srgbClr val="8FAAB8"/>
                </a:solidFill>
              </a:rPr>
              <a:t>In under 30 seconds</a:t>
            </a:r>
            <a:endParaRPr lang="en-US" sz="1000" dirty="0"/>
          </a:p>
        </p:txBody>
      </p:sp>
    </p:spTree>
    <p:extLst>
      <p:ext uri="{BB962C8B-B14F-4D97-AF65-F5344CB8AC3E}">
        <p14:creationId xmlns:p14="http://schemas.microsoft.com/office/powerpoint/2010/main" val="3999920434"/>
      </p:ext>
    </p:extLst>
  </p:cSld>
  <p:clrMapOvr>
    <a:masterClrMapping/>
  </p:clrMapOvr>
</p:sld>
</file>

<file path=ppt/theme/theme1.xml><?xml version="1.0" encoding="utf-8"?>
<a:theme xmlns:a="http://schemas.openxmlformats.org/drawingml/2006/main" name="Actus-Insurance-Beig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ctus-Insurance-Whit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ctus-Insuranc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tus-Insurance" id="{58C770FC-4AA7-4F82-9E52-25027D008F8A}" vid="{91095B9F-B46C-4841-B456-4D085A961FFB}"/>
    </a:ext>
  </a:extLst>
</a:theme>
</file>

<file path=ppt/theme/theme4.xml><?xml version="1.0" encoding="utf-8"?>
<a:theme xmlns:a="http://schemas.openxmlformats.org/drawingml/2006/main" name="1_Actus-Insurance-Beig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Actus-Insurance-Whit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Actus-Insurance</Template>
  <TotalTime>101</TotalTime>
  <Words>1541</Words>
  <Application>Microsoft Office PowerPoint</Application>
  <PresentationFormat>Diavoorstelling (16:9)</PresentationFormat>
  <Paragraphs>167</Paragraphs>
  <Slides>10</Slides>
  <Notes>3</Notes>
  <HiddenSlides>0</HiddenSlides>
  <MMClips>0</MMClips>
  <ScaleCrop>false</ScaleCrop>
  <HeadingPairs>
    <vt:vector size="6" baseType="variant">
      <vt:variant>
        <vt:lpstr>Gebruikte lettertypen</vt:lpstr>
      </vt:variant>
      <vt:variant>
        <vt:i4>5</vt:i4>
      </vt:variant>
      <vt:variant>
        <vt:lpstr>Thema</vt:lpstr>
      </vt:variant>
      <vt:variant>
        <vt:i4>5</vt:i4>
      </vt:variant>
      <vt:variant>
        <vt:lpstr>Diatitels</vt:lpstr>
      </vt:variant>
      <vt:variant>
        <vt:i4>10</vt:i4>
      </vt:variant>
    </vt:vector>
  </HeadingPairs>
  <TitlesOfParts>
    <vt:vector size="20" baseType="lpstr">
      <vt:lpstr>13</vt:lpstr>
      <vt:lpstr>Aptos</vt:lpstr>
      <vt:lpstr>Aptos Black</vt:lpstr>
      <vt:lpstr>Arial</vt:lpstr>
      <vt:lpstr>Trebuchet MS</vt:lpstr>
      <vt:lpstr>Actus-Insurance-Beige</vt:lpstr>
      <vt:lpstr>Actus-Insurance-White</vt:lpstr>
      <vt:lpstr>Actus-Insurance</vt:lpstr>
      <vt:lpstr>1_Actus-Insurance-Beige</vt:lpstr>
      <vt:lpstr>1_Actus-Insurance-White</vt:lpstr>
      <vt:lpstr>From Single Lane to a Thousand-Lane Highway</vt:lpstr>
      <vt:lpstr>What is ACTUS?</vt:lpstr>
      <vt:lpstr>The Scale Challenge</vt:lpstr>
      <vt:lpstr>The Architecture: CPU vs GPU</vt:lpstr>
      <vt:lpstr>Development Journey</vt:lpstr>
      <vt:lpstr>Key Technical Decisions</vt:lpstr>
      <vt:lpstr>Challenges Solved</vt:lpstr>
      <vt:lpstr>Benchmark Results</vt:lpstr>
      <vt:lpstr>Insurance Extension</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Frans van Ek</dc:creator>
  <cp:lastModifiedBy>Frans van Ek</cp:lastModifiedBy>
  <cp:revision>2</cp:revision>
  <dcterms:created xsi:type="dcterms:W3CDTF">2026-03-09T18:43:52Z</dcterms:created>
  <dcterms:modified xsi:type="dcterms:W3CDTF">2026-03-15T17:47:56Z</dcterms:modified>
</cp:coreProperties>
</file>